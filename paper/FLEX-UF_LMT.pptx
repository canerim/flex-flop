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48" r:id="rId1"/>
  </p:sldMasterIdLst>
  <p:notesMasterIdLst>
    <p:notesMasterId r:id="rId4"/>
  </p:notesMasterIdLst>
  <p:handoutMasterIdLst>
    <p:handoutMasterId r:id="rId5"/>
  </p:handoutMasterIdLst>
  <p:sldIdLst>
    <p:sldId id="256" r:id="rId3"/>
    <p:sldId id="257" r:id="rId2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9144000" cy="6858000" type="screen4x3"/>
  <p:notesSz cx="6858000" cy="9144000"/>
  <p:defaultTextStyle>
    <a:defPPr>
      <a:defRPr lang="de-DE"/>
    </a:defPPr>
    <a:lvl1pPr algn="r" rtl="0" eaLnBrk="0" fontAlgn="base" hangingPunct="0">
      <a:spcBef>
        <a:spcPct val="0"/>
      </a:spcBef>
      <a:spcAft>
        <a:spcPct val="0"/>
      </a:spcAft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1pPr>
    <a:lvl2pPr marL="457200" algn="r" rtl="0" eaLnBrk="0" fontAlgn="base" hangingPunct="0">
      <a:spcBef>
        <a:spcPct val="0"/>
      </a:spcBef>
      <a:spcAft>
        <a:spcPct val="0"/>
      </a:spcAft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2pPr>
    <a:lvl3pPr marL="914400" algn="r" rtl="0" eaLnBrk="0" fontAlgn="base" hangingPunct="0">
      <a:spcBef>
        <a:spcPct val="0"/>
      </a:spcBef>
      <a:spcAft>
        <a:spcPct val="0"/>
      </a:spcAft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3pPr>
    <a:lvl4pPr marL="1371600" algn="r" rtl="0" eaLnBrk="0" fontAlgn="base" hangingPunct="0">
      <a:spcBef>
        <a:spcPct val="0"/>
      </a:spcBef>
      <a:spcAft>
        <a:spcPct val="0"/>
      </a:spcAft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4pPr>
    <a:lvl5pPr marL="1828800" algn="r" rtl="0" eaLnBrk="0" fontAlgn="base" hangingPunct="0">
      <a:spcBef>
        <a:spcPct val="0"/>
      </a:spcBef>
      <a:spcAft>
        <a:spcPct val="0"/>
      </a:spcAft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5pPr>
    <a:lvl6pPr marL="2286000" algn="l" defTabSz="457200" rtl="0" eaLnBrk="1" latinLnBrk="0" hangingPunct="1"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6pPr>
    <a:lvl7pPr marL="2743200" algn="l" defTabSz="457200" rtl="0" eaLnBrk="1" latinLnBrk="0" hangingPunct="1"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7pPr>
    <a:lvl8pPr marL="3200400" algn="l" defTabSz="457200" rtl="0" eaLnBrk="1" latinLnBrk="0" hangingPunct="1"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8pPr>
    <a:lvl9pPr marL="3657600" algn="l" defTabSz="457200" rtl="0" eaLnBrk="1" latinLnBrk="0" hangingPunct="1"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5CA82"/>
    <a:srgbClr val="91AC6B"/>
    <a:srgbClr val="41BEFF"/>
    <a:srgbClr val="0099FF"/>
    <a:srgbClr val="CA213F"/>
    <a:srgbClr val="E53418"/>
    <a:srgbClr val="FF8000"/>
    <a:srgbClr val="0065B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>
        <p:scale>
          <a:sx n="134" d="100"/>
          <a:sy n="134" d="100"/>
        </p:scale>
        <p:origin x="-1002" y="-72"/>
      </p:cViewPr>
      <p:guideLst>
        <p:guide orient="horz" pos="1066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howGuides="1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handoutMaster" Target="handoutMasters/handout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508000" y="169863"/>
            <a:ext cx="33782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14339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191000" y="169863"/>
            <a:ext cx="2133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en-US"/>
          </a:p>
        </p:txBody>
      </p:sp>
      <p:sp>
        <p:nvSpPr>
          <p:cNvPr id="14340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14341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fld id="{B8682F5A-9025-5143-B95A-464527BD45C7}" type="slidenum">
              <a:rPr lang="de-DE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4000696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en-US"/>
          </a:p>
        </p:txBody>
      </p:sp>
      <p:sp>
        <p:nvSpPr>
          <p:cNvPr id="614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</p:sp>
      <p:sp>
        <p:nvSpPr>
          <p:cNvPr id="410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10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410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fld id="{224B126A-EBFB-3945-B395-849A2AAB6EE9}" type="slidenum">
              <a:rPr lang="de-DE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40721356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pitchFamily="-65" charset="-128"/>
        <a:cs typeface="ＭＳ Ｐゴシック" pitchFamily="18" charset="-128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pitchFamily="-65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pitchFamily="-65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pitchFamily="-65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pitchFamily="-65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wmf"/><Relationship Id="rId3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7" name="Rectangle 3"/>
          <p:cNvSpPr>
            <a:spLocks noGrp="1" noChangeArrowheads="1"/>
          </p:cNvSpPr>
          <p:nvPr>
            <p:ph type="ctrTitle"/>
          </p:nvPr>
        </p:nvSpPr>
        <p:spPr>
          <a:xfrm>
            <a:off x="520700" y="2735860"/>
            <a:ext cx="8128000" cy="1295400"/>
          </a:xfrm>
        </p:spPr>
        <p:txBody>
          <a:bodyPr/>
          <a:lstStyle>
            <a:lvl1pPr algn="ctr">
              <a:defRPr sz="3200" b="0">
                <a:solidFill>
                  <a:schemeClr val="bg2"/>
                </a:solidFill>
              </a:defRPr>
            </a:lvl1pPr>
          </a:lstStyle>
          <a:p>
            <a:r>
              <a:rPr lang="en-US" noProof="0" dirty="0" err="1" smtClean="0"/>
              <a:t>Titelmasterformat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/>
          </a:p>
        </p:txBody>
      </p:sp>
      <p:sp>
        <p:nvSpPr>
          <p:cNvPr id="11268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520700" y="4336060"/>
            <a:ext cx="8128000" cy="1752600"/>
          </a:xfrm>
        </p:spPr>
        <p:txBody>
          <a:bodyPr/>
          <a:lstStyle>
            <a:lvl1pPr marL="0" indent="0" algn="ctr">
              <a:buFontTx/>
              <a:buNone/>
              <a:defRPr sz="2400"/>
            </a:lvl1pPr>
          </a:lstStyle>
          <a:p>
            <a:r>
              <a:rPr lang="en-US" noProof="0" dirty="0" err="1" smtClean="0"/>
              <a:t>Formatvorlage</a:t>
            </a:r>
            <a:r>
              <a:rPr lang="en-US" noProof="0" dirty="0" smtClean="0"/>
              <a:t> des </a:t>
            </a:r>
            <a:r>
              <a:rPr lang="en-US" noProof="0" dirty="0" err="1" smtClean="0"/>
              <a:t>Untertitelmasters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/>
          </a:p>
        </p:txBody>
      </p:sp>
      <p:sp>
        <p:nvSpPr>
          <p:cNvPr id="8" name="Rectangle 6"/>
          <p:cNvSpPr>
            <a:spLocks noGrp="1" noChangeArrowheads="1"/>
          </p:cNvSpPr>
          <p:nvPr>
            <p:ph type="ftr" sz="quarter" idx="10"/>
          </p:nvPr>
        </p:nvSpPr>
        <p:spPr>
          <a:xfrm>
            <a:off x="508000" y="6400800"/>
            <a:ext cx="8153400" cy="304800"/>
          </a:xfrm>
        </p:spPr>
        <p:txBody>
          <a:bodyPr anchor="t"/>
          <a:lstStyle>
            <a:lvl1pPr>
              <a:defRPr/>
            </a:lvl1pPr>
          </a:lstStyle>
          <a:p>
            <a:endParaRPr lang="en-US" noProof="0" dirty="0"/>
          </a:p>
        </p:txBody>
      </p:sp>
      <p:pic>
        <p:nvPicPr>
          <p:cNvPr id="10" name="Bild 9" descr="LS_Medientechnik_OS_Blau_RGB.wmf"/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277" y="420121"/>
            <a:ext cx="546137" cy="546137"/>
          </a:xfrm>
          <a:prstGeom prst="rect">
            <a:avLst/>
          </a:prstGeom>
        </p:spPr>
      </p:pic>
      <p:pic>
        <p:nvPicPr>
          <p:cNvPr id="12" name="Picture 29" descr="U:\Logos und Grafiken\TUMLogo_oZ_Vollfl_blau_RGB.png"/>
          <p:cNvPicPr>
            <a:picLocks noChangeAspect="1" noChangeArrowheads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34920" y="423276"/>
            <a:ext cx="1026072" cy="5416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945313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 noProof="0" dirty="0" err="1" smtClean="0"/>
              <a:t>Titelmasterformat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000"/>
            </a:lvl1pPr>
          </a:lstStyle>
          <a:p>
            <a:pPr lvl="0"/>
            <a:r>
              <a:rPr lang="en-US" noProof="0" dirty="0" err="1" smtClean="0"/>
              <a:t>Textmasterformate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 smtClean="0"/>
          </a:p>
          <a:p>
            <a:pPr lvl="1"/>
            <a:r>
              <a:rPr lang="en-US" noProof="0" dirty="0" err="1" smtClean="0"/>
              <a:t>Zweite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2"/>
            <a:r>
              <a:rPr lang="en-US" noProof="0" dirty="0" err="1" smtClean="0"/>
              <a:t>Dritte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3"/>
            <a:r>
              <a:rPr lang="en-US" noProof="0" dirty="0" err="1" smtClean="0"/>
              <a:t>Vierte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4"/>
            <a:r>
              <a:rPr lang="en-US" noProof="0" dirty="0" err="1" smtClean="0"/>
              <a:t>Fünfte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2F608F0F-3717-0942-9241-E6563A14553B}" type="datetime1">
              <a:rPr lang="en-US" noProof="0" smtClean="0"/>
              <a:pPr/>
              <a:t>10/1/2014</a:t>
            </a:fld>
            <a:endParaRPr lang="en-US" noProof="0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noProof="0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7CC94CD-1FE7-0C44-80F4-2964C2C99554}" type="slidenum">
              <a:rPr lang="en-US" noProof="0" smtClean="0"/>
              <a:pPr/>
              <a:t>‹Nr.›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27852595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800" baseline="0"/>
            </a:lvl1pPr>
          </a:lstStyle>
          <a:p>
            <a:r>
              <a:rPr lang="en-US" noProof="0" dirty="0" err="1" smtClean="0"/>
              <a:t>Titelmasterformat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/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508000" y="1692275"/>
            <a:ext cx="3987800" cy="447992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noProof="0" dirty="0" err="1" smtClean="0"/>
              <a:t>Textmasterformate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 smtClean="0"/>
          </a:p>
          <a:p>
            <a:pPr lvl="1"/>
            <a:r>
              <a:rPr lang="en-US" noProof="0" dirty="0" err="1" smtClean="0"/>
              <a:t>Zweite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2"/>
            <a:r>
              <a:rPr lang="en-US" noProof="0" dirty="0" err="1" smtClean="0"/>
              <a:t>Dritte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3"/>
            <a:r>
              <a:rPr lang="en-US" noProof="0" dirty="0" err="1" smtClean="0"/>
              <a:t>Vierte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4"/>
            <a:r>
              <a:rPr lang="en-US" noProof="0" dirty="0" err="1" smtClean="0"/>
              <a:t>Fünfte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/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4648200" y="1692275"/>
            <a:ext cx="3987800" cy="447992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noProof="0" dirty="0" err="1" smtClean="0"/>
              <a:t>Textmasterformate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 smtClean="0"/>
          </a:p>
          <a:p>
            <a:pPr lvl="1"/>
            <a:r>
              <a:rPr lang="en-US" noProof="0" dirty="0" err="1" smtClean="0"/>
              <a:t>Zweite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2"/>
            <a:r>
              <a:rPr lang="en-US" noProof="0" dirty="0" err="1" smtClean="0"/>
              <a:t>Dritte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3"/>
            <a:r>
              <a:rPr lang="en-US" noProof="0" dirty="0" err="1" smtClean="0"/>
              <a:t>Vierte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4"/>
            <a:r>
              <a:rPr lang="en-US" noProof="0" dirty="0" err="1" smtClean="0"/>
              <a:t>Fünfte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583E054-FA98-0D4D-A84E-988AA305B92A}" type="datetime1">
              <a:rPr lang="en-US" noProof="0" smtClean="0"/>
              <a:pPr/>
              <a:t>10/1/2014</a:t>
            </a:fld>
            <a:endParaRPr lang="en-US" noProof="0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noProof="0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BEEA83A0-A104-9441-ACE9-BF30B05124E9}" type="slidenum">
              <a:rPr lang="en-US" noProof="0" smtClean="0"/>
              <a:pPr/>
              <a:t>‹Nr.›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261157097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wmf"/><Relationship Id="rId6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508000" y="849790"/>
            <a:ext cx="8128000" cy="6015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 dirty="0" err="1" smtClean="0"/>
              <a:t>Mastertitelformat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/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508000" y="1701800"/>
            <a:ext cx="8128000" cy="4470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 dirty="0" err="1" smtClean="0"/>
              <a:t>Mastertextformat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 smtClean="0"/>
          </a:p>
          <a:p>
            <a:pPr lvl="1"/>
            <a:r>
              <a:rPr lang="en-US" noProof="0" dirty="0" err="1" smtClean="0"/>
              <a:t>Zweite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2"/>
            <a:r>
              <a:rPr lang="en-US" noProof="0" dirty="0" err="1" smtClean="0"/>
              <a:t>Dritte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3"/>
            <a:r>
              <a:rPr lang="en-US" noProof="0" dirty="0" err="1" smtClean="0"/>
              <a:t>Vierte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4"/>
            <a:r>
              <a:rPr lang="en-US" noProof="0" dirty="0" err="1" smtClean="0"/>
              <a:t>Fünfte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/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508001" y="6400800"/>
            <a:ext cx="1210752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>
              <a:defRPr sz="1200" b="0"/>
            </a:lvl1pPr>
          </a:lstStyle>
          <a:p>
            <a:fld id="{35369418-08C0-BE43-AA9B-AD0B2EE4ADC5}" type="datetime1">
              <a:rPr lang="en-US" smtClean="0"/>
              <a:pPr/>
              <a:t>10/1/2014</a:t>
            </a:fld>
            <a:endParaRPr lang="en-US" dirty="0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1986114" y="6400800"/>
            <a:ext cx="516580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>
              <a:defRPr sz="1200" b="0"/>
            </a:lvl1pPr>
          </a:lstStyle>
          <a:p>
            <a:endParaRPr lang="en-US" dirty="0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438376" y="6400800"/>
            <a:ext cx="1197623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 b="0"/>
            </a:lvl1pPr>
          </a:lstStyle>
          <a:p>
            <a:fld id="{4E0006A5-54B2-7248-935D-336FE5B38FBE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12" name="Text Box 18"/>
          <p:cNvSpPr txBox="1">
            <a:spLocks noChangeArrowheads="1"/>
          </p:cNvSpPr>
          <p:nvPr userDrawn="1"/>
        </p:nvSpPr>
        <p:spPr bwMode="auto">
          <a:xfrm>
            <a:off x="6224653" y="479425"/>
            <a:ext cx="1846197" cy="2308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r>
              <a:rPr lang="en-US" sz="900" b="0" noProof="0" dirty="0" err="1" smtClean="0">
                <a:solidFill>
                  <a:schemeClr val="bg2"/>
                </a:solidFill>
              </a:rPr>
              <a:t>Technische</a:t>
            </a:r>
            <a:r>
              <a:rPr lang="en-US" sz="900" b="0" noProof="0" dirty="0" smtClean="0">
                <a:solidFill>
                  <a:schemeClr val="bg2"/>
                </a:solidFill>
              </a:rPr>
              <a:t> </a:t>
            </a:r>
            <a:r>
              <a:rPr lang="en-US" sz="900" b="0" noProof="0" dirty="0" err="1" smtClean="0">
                <a:solidFill>
                  <a:schemeClr val="bg2"/>
                </a:solidFill>
              </a:rPr>
              <a:t>Universität</a:t>
            </a:r>
            <a:r>
              <a:rPr lang="en-US" sz="900" b="0" noProof="0" dirty="0" smtClean="0">
                <a:solidFill>
                  <a:schemeClr val="bg2"/>
                </a:solidFill>
              </a:rPr>
              <a:t> </a:t>
            </a:r>
            <a:r>
              <a:rPr lang="en-US" sz="900" b="0" noProof="0" dirty="0" err="1" smtClean="0">
                <a:solidFill>
                  <a:schemeClr val="bg2"/>
                </a:solidFill>
              </a:rPr>
              <a:t>München</a:t>
            </a:r>
            <a:endParaRPr lang="en-US" sz="900" b="0" noProof="0" dirty="0">
              <a:solidFill>
                <a:schemeClr val="bg2"/>
              </a:solidFill>
            </a:endParaRPr>
          </a:p>
        </p:txBody>
      </p:sp>
      <p:sp>
        <p:nvSpPr>
          <p:cNvPr id="14" name="Line 23"/>
          <p:cNvSpPr>
            <a:spLocks noChangeShapeType="1"/>
          </p:cNvSpPr>
          <p:nvPr userDrawn="1"/>
        </p:nvSpPr>
        <p:spPr bwMode="auto">
          <a:xfrm>
            <a:off x="0" y="6324600"/>
            <a:ext cx="9144000" cy="0"/>
          </a:xfrm>
          <a:prstGeom prst="line">
            <a:avLst/>
          </a:prstGeom>
          <a:noFill/>
          <a:ln w="9525">
            <a:solidFill>
              <a:schemeClr val="bg2"/>
            </a:solidFill>
            <a:round/>
            <a:headEnd/>
            <a:tailEnd/>
          </a:ln>
          <a:effectLst/>
        </p:spPr>
        <p:txBody>
          <a:bodyPr/>
          <a:lstStyle/>
          <a:p>
            <a:pPr>
              <a:defRPr/>
            </a:pPr>
            <a:endParaRPr lang="en-US" b="0" noProof="0">
              <a:latin typeface="Arial" pitchFamily="34" charset="0"/>
              <a:ea typeface="ＭＳ Ｐゴシック" pitchFamily="18" charset="-128"/>
              <a:cs typeface="ＭＳ Ｐゴシック" pitchFamily="18" charset="-128"/>
            </a:endParaRPr>
          </a:p>
        </p:txBody>
      </p:sp>
      <p:sp>
        <p:nvSpPr>
          <p:cNvPr id="16" name="Line 22"/>
          <p:cNvSpPr>
            <a:spLocks noChangeShapeType="1"/>
          </p:cNvSpPr>
          <p:nvPr userDrawn="1"/>
        </p:nvSpPr>
        <p:spPr bwMode="auto">
          <a:xfrm>
            <a:off x="0" y="685800"/>
            <a:ext cx="9144000" cy="0"/>
          </a:xfrm>
          <a:prstGeom prst="line">
            <a:avLst/>
          </a:prstGeom>
          <a:noFill/>
          <a:ln w="9525">
            <a:solidFill>
              <a:schemeClr val="bg2"/>
            </a:solidFill>
            <a:round/>
            <a:headEnd/>
            <a:tailEnd/>
          </a:ln>
          <a:effectLst/>
        </p:spPr>
        <p:txBody>
          <a:bodyPr/>
          <a:lstStyle/>
          <a:p>
            <a:pPr>
              <a:defRPr/>
            </a:pPr>
            <a:endParaRPr lang="en-US" b="0" noProof="0">
              <a:latin typeface="Arial" pitchFamily="34" charset="0"/>
              <a:ea typeface="ＭＳ Ｐゴシック" pitchFamily="18" charset="-128"/>
              <a:cs typeface="ＭＳ Ｐゴシック" pitchFamily="18" charset="-128"/>
            </a:endParaRPr>
          </a:p>
        </p:txBody>
      </p:sp>
      <p:pic>
        <p:nvPicPr>
          <p:cNvPr id="2" name="Bild 1" descr="LS_Medientechnik_OS_Blau_RGB.wmf"/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511" y="286445"/>
            <a:ext cx="362833" cy="362833"/>
          </a:xfrm>
          <a:prstGeom prst="rect">
            <a:avLst/>
          </a:prstGeom>
        </p:spPr>
      </p:pic>
      <p:sp>
        <p:nvSpPr>
          <p:cNvPr id="13" name="Text Box 18"/>
          <p:cNvSpPr txBox="1">
            <a:spLocks noChangeArrowheads="1"/>
          </p:cNvSpPr>
          <p:nvPr userDrawn="1"/>
        </p:nvSpPr>
        <p:spPr bwMode="auto">
          <a:xfrm>
            <a:off x="866990" y="335830"/>
            <a:ext cx="1903962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algn="l"/>
            <a:r>
              <a:rPr lang="en-US" sz="900" b="0" noProof="0" dirty="0" smtClean="0">
                <a:solidFill>
                  <a:schemeClr val="bg2"/>
                </a:solidFill>
              </a:rPr>
              <a:t>Chair of Media </a:t>
            </a:r>
            <a:r>
              <a:rPr lang="en-US" sz="900" b="0" noProof="0" dirty="0" smtClean="0">
                <a:solidFill>
                  <a:schemeClr val="bg2"/>
                </a:solidFill>
              </a:rPr>
              <a:t>Technology</a:t>
            </a:r>
          </a:p>
          <a:p>
            <a:pPr algn="l"/>
            <a:r>
              <a:rPr lang="en-US" sz="900" b="0" noProof="0" dirty="0" smtClean="0">
                <a:solidFill>
                  <a:schemeClr val="bg2"/>
                </a:solidFill>
              </a:rPr>
              <a:t>Prof. Dr.-</a:t>
            </a:r>
            <a:r>
              <a:rPr lang="en-US" sz="900" b="0" noProof="0" dirty="0" err="1" smtClean="0">
                <a:solidFill>
                  <a:schemeClr val="bg2"/>
                </a:solidFill>
              </a:rPr>
              <a:t>Ing</a:t>
            </a:r>
            <a:r>
              <a:rPr lang="en-US" sz="900" b="0" noProof="0" dirty="0" smtClean="0">
                <a:solidFill>
                  <a:schemeClr val="bg2"/>
                </a:solidFill>
              </a:rPr>
              <a:t>. </a:t>
            </a:r>
            <a:r>
              <a:rPr lang="en-US" sz="900" b="0" noProof="0" dirty="0" err="1" smtClean="0">
                <a:solidFill>
                  <a:schemeClr val="bg2"/>
                </a:solidFill>
              </a:rPr>
              <a:t>Eckehard</a:t>
            </a:r>
            <a:r>
              <a:rPr lang="en-US" sz="900" b="0" noProof="0" dirty="0" smtClean="0">
                <a:solidFill>
                  <a:schemeClr val="bg2"/>
                </a:solidFill>
              </a:rPr>
              <a:t> Steinbach</a:t>
            </a:r>
            <a:endParaRPr lang="en-US" sz="900" b="0" noProof="0" dirty="0">
              <a:solidFill>
                <a:schemeClr val="bg2"/>
              </a:solidFill>
            </a:endParaRPr>
          </a:p>
        </p:txBody>
      </p:sp>
      <p:pic>
        <p:nvPicPr>
          <p:cNvPr id="42" name="Picture 29" descr="U:\Logos und Grafiken\TUMLogo_oZ_Vollfl_blau_RGB.png"/>
          <p:cNvPicPr>
            <a:picLocks noChangeAspect="1" noChangeArrowheads="1"/>
          </p:cNvPicPr>
          <p:nvPr userDrawn="1"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39778" y="325438"/>
            <a:ext cx="604440" cy="3190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95" r:id="rId1"/>
    <p:sldLayoutId id="2147483693" r:id="rId2"/>
    <p:sldLayoutId id="2147483694" r:id="rId3"/>
  </p:sldLayoutIdLst>
  <p:txStyles>
    <p:titleStyle>
      <a:lvl1pPr algn="l" rtl="0" eaLnBrk="0" fontAlgn="base" hangingPunct="0">
        <a:spcBef>
          <a:spcPct val="0"/>
        </a:spcBef>
        <a:spcAft>
          <a:spcPct val="0"/>
        </a:spcAft>
        <a:defRPr sz="2800" b="0">
          <a:solidFill>
            <a:schemeClr val="tx1"/>
          </a:solidFill>
          <a:latin typeface="+mj-lt"/>
          <a:ea typeface="ＭＳ Ｐゴシック" pitchFamily="-65" charset="-128"/>
          <a:cs typeface="ＭＳ Ｐゴシック" pitchFamily="18" charset="-128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  <a:ea typeface="ＭＳ Ｐゴシック" pitchFamily="-65" charset="-128"/>
          <a:cs typeface="ＭＳ Ｐゴシック" pitchFamily="18" charset="-128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  <a:ea typeface="ＭＳ Ｐゴシック" pitchFamily="-65" charset="-128"/>
          <a:cs typeface="ＭＳ Ｐゴシック" pitchFamily="18" charset="-128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  <a:ea typeface="ＭＳ Ｐゴシック" pitchFamily="-65" charset="-128"/>
          <a:cs typeface="ＭＳ Ｐゴシック" pitchFamily="18" charset="-128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  <a:ea typeface="ＭＳ Ｐゴシック" pitchFamily="-65" charset="-128"/>
          <a:cs typeface="ＭＳ Ｐゴシック" pitchFamily="18" charset="-128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pitchFamily="34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pitchFamily="34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pitchFamily="34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pitchFamily="34" charset="0"/>
        </a:defRPr>
      </a:lvl9pPr>
    </p:titleStyle>
    <p:bodyStyle>
      <a:lvl1pPr marL="266700" indent="-2667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Wingdings" charset="2"/>
        <a:buChar char="§"/>
        <a:defRPr sz="2000" b="0">
          <a:solidFill>
            <a:schemeClr val="tx1"/>
          </a:solidFill>
          <a:latin typeface="+mn-lt"/>
          <a:ea typeface="ＭＳ Ｐゴシック" pitchFamily="-65" charset="-128"/>
          <a:cs typeface="ＭＳ Ｐゴシック" pitchFamily="18" charset="-128"/>
        </a:defRPr>
      </a:lvl1pPr>
      <a:lvl2pPr marL="534988" indent="-268288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Lucida Grande"/>
        <a:buChar char="□"/>
        <a:defRPr sz="2000" b="0">
          <a:solidFill>
            <a:schemeClr val="tx1"/>
          </a:solidFill>
          <a:latin typeface="+mn-lt"/>
          <a:ea typeface="ＭＳ Ｐゴシック" pitchFamily="-65" charset="-128"/>
        </a:defRPr>
      </a:lvl2pPr>
      <a:lvl3pPr marL="801688" indent="-2667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Lucida Grande"/>
        <a:buChar char="□"/>
        <a:defRPr sz="2000" b="0">
          <a:solidFill>
            <a:schemeClr val="tx1"/>
          </a:solidFill>
          <a:latin typeface="+mn-lt"/>
          <a:ea typeface="ＭＳ Ｐゴシック" pitchFamily="-65" charset="-128"/>
        </a:defRPr>
      </a:lvl3pPr>
      <a:lvl4pPr marL="1079500" indent="-277813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Lucida Grande"/>
        <a:buChar char="□"/>
        <a:defRPr sz="2000" b="0">
          <a:solidFill>
            <a:schemeClr val="tx1"/>
          </a:solidFill>
          <a:latin typeface="+mn-lt"/>
          <a:ea typeface="ＭＳ Ｐゴシック" pitchFamily="-65" charset="-128"/>
        </a:defRPr>
      </a:lvl4pPr>
      <a:lvl5pPr marL="1346200" indent="-2667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Lucida Grande"/>
        <a:buChar char="□"/>
        <a:defRPr sz="2000" b="0">
          <a:solidFill>
            <a:schemeClr val="tx1"/>
          </a:solidFill>
          <a:latin typeface="+mn-lt"/>
          <a:ea typeface="ＭＳ Ｐゴシック" pitchFamily="-65" charset="-128"/>
        </a:defRPr>
      </a:lvl5pPr>
      <a:lvl6pPr marL="2438400" indent="-228600" algn="l" rtl="0" eaLnBrk="1" fontAlgn="base" hangingPunct="1">
        <a:spcBef>
          <a:spcPct val="20000"/>
        </a:spcBef>
        <a:spcAft>
          <a:spcPct val="0"/>
        </a:spcAft>
        <a:buChar char="»"/>
        <a:defRPr sz="1400">
          <a:solidFill>
            <a:schemeClr val="tx1"/>
          </a:solidFill>
          <a:latin typeface="+mn-lt"/>
        </a:defRPr>
      </a:lvl6pPr>
      <a:lvl7pPr marL="2895600" indent="-228600" algn="l" rtl="0" eaLnBrk="1" fontAlgn="base" hangingPunct="1">
        <a:spcBef>
          <a:spcPct val="20000"/>
        </a:spcBef>
        <a:spcAft>
          <a:spcPct val="0"/>
        </a:spcAft>
        <a:buChar char="»"/>
        <a:defRPr sz="1400">
          <a:solidFill>
            <a:schemeClr val="tx1"/>
          </a:solidFill>
          <a:latin typeface="+mn-lt"/>
        </a:defRPr>
      </a:lvl7pPr>
      <a:lvl8pPr marL="3352800" indent="-228600" algn="l" rtl="0" eaLnBrk="1" fontAlgn="base" hangingPunct="1">
        <a:spcBef>
          <a:spcPct val="20000"/>
        </a:spcBef>
        <a:spcAft>
          <a:spcPct val="0"/>
        </a:spcAft>
        <a:buChar char="»"/>
        <a:defRPr sz="1400">
          <a:solidFill>
            <a:schemeClr val="tx1"/>
          </a:solidFill>
          <a:latin typeface="+mn-lt"/>
        </a:defRPr>
      </a:lvl8pPr>
      <a:lvl9pPr marL="3810000" indent="-228600" algn="l" rtl="0" eaLnBrk="1" fontAlgn="base" hangingPunct="1">
        <a:spcBef>
          <a:spcPct val="20000"/>
        </a:spcBef>
        <a:spcAft>
          <a:spcPct val="0"/>
        </a:spcAft>
        <a:buChar char="»"/>
        <a:defRPr sz="14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FLEX-UF: Content-Adaptive Early Exit for DCVC-UF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Decode compute spent where the content needs it</a:t>
            </a:r>
          </a:p>
          <a:p>
            <a:r>
              <a:t>Chair of Media Technology · TUM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Uniform compute, non-uniform content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1544320"/>
          </a:xfrm>
        </p:spPr>
        <p:txBody>
          <a:bodyPr/>
          <a:lstStyle/>
          <a:p>
            <a:pPr/>
            <a:r>
              <a:rPr sz="1300" b="1">
                <a:solidFill>
                  <a:srgbClr val="0065BD"/>
                </a:solidFill>
              </a:rPr>
              <a:t>DCVC-UF intra decoder · 453.5 GMAC / 1080p frame</a:t>
            </a:r>
          </a:p>
          <a:p>
            <a:pPr lvl="1"/>
            <a:r>
              <a:rPr sz="1100" b="0"/>
              <a:t>upsample 8.2%  ·  12 DepthConvBlocks 89.4%  ·  head 2.4%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Target · 30–40% saved at ≤ 0.1 dB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Constraint · encoder, hyperprior, entropy model frozen</a:t>
            </a:r>
          </a:p>
          <a:p>
            <a:pPr lvl="1"/>
            <a:r>
              <a:rPr sz="1100" b="0"/>
              <a:t>coded payload bit-identical → the decoder is the only variable</a:t>
            </a:r>
          </a:p>
        </p:txBody>
      </p:sp>
      <p:pic>
        <p:nvPicPr>
          <p:cNvPr id="4" name="Picture 3" descr="nf_ma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3126232"/>
            <a:ext cx="8321039" cy="277824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ladder of exits over the trunk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1798320"/>
          </a:xfrm>
        </p:spPr>
        <p:txBody>
          <a:bodyPr/>
          <a:lstStyle/>
          <a:p>
            <a:pPr/>
            <a:r>
              <a:rPr sz="1300" b="1">
                <a:solidFill>
                  <a:srgbClr val="0065BD"/>
                </a:solidFill>
              </a:rPr>
              <a:t>K exits over 12 blocks, split depth j</a:t>
            </a:r>
          </a:p>
          <a:p>
            <a:pPr lvl="1"/>
            <a:r>
              <a:rPr sz="1100" b="0"/>
              <a:t>groups 0…j−1  full-frame  ·  groups j…K−1  per tile</a:t>
            </a:r>
          </a:p>
          <a:p>
            <a:pPr lvl="1"/>
            <a:r>
              <a:rPr sz="1100" b="0"/>
              <a:t>shipped:  K = 6,  j = 2,  256 px tiles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Per-tile cost  C_k  (units of one stock decode)</a:t>
            </a:r>
          </a:p>
          <a:p>
            <a:pPr lvl="1"/>
            <a:r>
              <a:rPr sz="1100" b="0"/>
              <a:t>0.581  0.581  0.581  0.730  0.870  1.010</a:t>
            </a:r>
          </a:p>
          <a:p>
            <a:pPr lvl="1"/>
            <a:r>
              <a:rPr sz="1100" b="0"/>
              <a:t>exits 0,1 end inside the stem → C₀ = C₁ = C₂ · 6 rungs, 4 prices</a:t>
            </a:r>
          </a:p>
        </p:txBody>
      </p:sp>
      <p:pic>
        <p:nvPicPr>
          <p:cNvPr id="4" name="Picture 3" descr="nf_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3380232"/>
            <a:ext cx="8321040" cy="201278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assignment, on a frame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1290320"/>
          </a:xfrm>
        </p:spPr>
        <p:txBody>
          <a:bodyPr/>
          <a:lstStyle/>
          <a:p>
            <a:pPr/>
            <a:r>
              <a:rPr sz="1300" b="1">
                <a:solidFill>
                  <a:srgbClr val="0065BD"/>
                </a:solidFill>
              </a:rPr>
              <a:t>Bosphorus · qp 32 · λ* bisected to 0.1 dB · 40 tiles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boat → exit 4   water, sky → exit 2   shoreline → exit 3</a:t>
            </a:r>
          </a:p>
          <a:p>
            <a:pPr lvl="1"/>
            <a:r>
              <a:rPr sz="1100" b="0"/>
              <a:t>33.4% saved at 0.098 dB</a:t>
            </a:r>
          </a:p>
          <a:p>
            <a:pPr lvl="1"/>
            <a:r>
              <a:rPr sz="1100" b="0"/>
              <a:t>(c) dB vs each tile's OWN reference, not the frame mean</a:t>
            </a:r>
          </a:p>
        </p:txBody>
      </p:sp>
      <p:pic>
        <p:nvPicPr>
          <p:cNvPr id="4" name="Picture 3" descr="exit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872232"/>
            <a:ext cx="8321040" cy="240872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reference IS the released decoder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1544320"/>
          </a:xfrm>
        </p:spPr>
        <p:txBody>
          <a:bodyPr/>
          <a:lstStyle/>
          <a:p>
            <a:pPr/>
            <a:r>
              <a:rPr sz="1300" b="1">
                <a:solidFill>
                  <a:srgbClr val="0065BD"/>
                </a:solidFill>
              </a:rPr>
              <a:t>Released weights re-expressed in ladder form · bijection over 143 tensors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Adapters and seam repair zero-init ⇒ identity at step 0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max | x̂_release − x̂_ours |  =  0.0     at qp 0 / 32 / 63</a:t>
            </a:r>
          </a:p>
          <a:p>
            <a:pPr lvl="1"/>
            <a:r>
              <a:rPr sz="1100" b="0"/>
              <a:t>through Microsoft's own DMCI class and forward_one_frame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So training must (a) lift shallow exits, (b) not damage the deepest</a:t>
            </a:r>
          </a:p>
        </p:txBody>
      </p:sp>
      <p:pic>
        <p:nvPicPr>
          <p:cNvPr id="4" name="Picture 3" descr="nf_warmst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3126232"/>
            <a:ext cx="8321040" cy="30901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Recipe, checked against theirs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2103120"/>
          </a:xfrm>
        </p:spPr>
        <p:txBody>
          <a:bodyPr/>
          <a:lstStyle/>
          <a:p>
            <a:pPr/>
            <a:r>
              <a:rPr sz="1100" b="1">
                <a:solidFill>
                  <a:srgbClr val="0065BD"/>
                </a:solidFill>
              </a:rPr>
              <a:t>verify_recipe.py diffs each item against ~/DCVC/train_image.py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Deepest-exit drift vs release   BEST  -0.003 / -0.016 / -0.033   ·   VERBATIM (no anchor)  -0.092 / -0.127 / -0.169   at qp 0/32/63</a:t>
            </a:r>
          </a:p>
          <a:p>
            <a:pPr lvl="1"/>
            <a:r>
              <a:rPr sz="900" b="0"/>
              <a:t>Saving at 0.1 dB, same architecture:  anchor 0: unreachable at every rate  ·  anchor 1: 5/4/4/3/3%  ·  anchor 10: 42/42/42/42/42%   (CONTROL→BEST moves four flags, so it is the bundle)</a:t>
            </a:r>
          </a:p>
          <a:p>
            <a:pPr lvl="1"/>
            <a:r>
              <a:rPr sz="900" b="0"/>
              <a:t>CONTROL, 2nd epoch:  saving at qp0 13.3% -&gt; 3.8%  ·  damage grows the shallower the exit  ·  VERBATIM improved over the same boundary → cause unknown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Additions, listed: --epoch_offset · --anchor_weight · --new_lr_scale · --freeze_encoder</a:t>
            </a:r>
          </a:p>
        </p:txBody>
      </p:sp>
      <p:pic>
        <p:nvPicPr>
          <p:cNvPr id="4" name="Picture 3" descr="nf_collap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3685031"/>
            <a:ext cx="8321039" cy="222632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loss is not the convergence signal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1722120"/>
          </a:xfrm>
        </p:spPr>
        <p:txBody>
          <a:bodyPr/>
          <a:lstStyle/>
          <a:p>
            <a:pPr/>
            <a:r>
              <a:rPr sz="1200" b="1">
                <a:solidFill>
                  <a:srgbClr val="0065BD"/>
                </a:solidFill>
              </a:rPr>
              <a:t>L = λ·MSE + bpp   ·   corr(L, batch bpp) = 0.97</a:t>
            </a:r>
          </a:p>
          <a:p>
            <a:pPr lvl="1"/>
            <a:r>
              <a:rPr sz="1000" b="0"/>
              <a:t>flat from step ~5,000; a 256 px crop's bitrate swings 2× per batch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(b) exits stay ordered, ~1 dB apart → ladder healthy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(c) saving on FIXED CTC frames, still rising at 20–24k steps</a:t>
            </a:r>
          </a:p>
          <a:p>
            <a:pPr lvl="1"/>
            <a:r>
              <a:rPr sz="1000" b="0"/>
              <a:t>BEST128 11.2 → 12.6%   FINE12 15.0 → 16.8%   (qp 63)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1 epoch = 47,451 steps · every number here is one checkpoint</a:t>
            </a:r>
          </a:p>
        </p:txBody>
      </p:sp>
      <p:pic>
        <p:nvPicPr>
          <p:cNvPr id="4" name="Picture 3" descr="training_B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3304032"/>
            <a:ext cx="8321039" cy="255855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Schedule position, and a ×4 error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1290320"/>
          </a:xfrm>
        </p:spPr>
        <p:txBody>
          <a:bodyPr/>
          <a:lstStyle/>
          <a:p>
            <a:pPr/>
            <a:r>
              <a:rPr sz="1300" b="1">
                <a:solidFill>
                  <a:srgbClr val="0065BD"/>
                </a:solidFill>
              </a:rPr>
              <a:t>Reading the schedule from epoch 0 applies from-scratch lr to a converged model</a:t>
            </a:r>
          </a:p>
          <a:p>
            <a:pPr lvl="1"/>
            <a:r>
              <a:rPr sz="1100" b="0"/>
              <a:t>deepest exit fell 0.153 / 0.201 / 0.263 dB in one epoch</a:t>
            </a:r>
          </a:p>
          <a:p>
            <a:pPr lvl="1"/>
            <a:r>
              <a:rPr sz="1100" b="0"/>
              <a:t>→ 0.025 / 0.051 / 0.074 with --epoch_offset 75 + --anchor_weight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Freezing the trunk gives 0.000 drift — and collapses the ceiling 27.3% → 11.5%</a:t>
            </a:r>
          </a:p>
        </p:txBody>
      </p:sp>
      <p:pic>
        <p:nvPicPr>
          <p:cNvPr id="4" name="Picture 3" descr="nf_anch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872232"/>
            <a:ext cx="8321040" cy="310601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One frame, four exits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782320"/>
          </a:xfrm>
        </p:spPr>
        <p:txBody>
          <a:bodyPr/>
          <a:lstStyle/>
          <a:p>
            <a:pPr/>
            <a:r>
              <a:rPr sz="1300" b="1">
                <a:solidFill>
                  <a:srgbClr val="0065BD"/>
                </a:solidFill>
              </a:rPr>
              <a:t>Bosphorus 1080p · qp 32 · identical bitstream at every exit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Error ×25 · damage is structured: detail and tile borders</a:t>
            </a:r>
          </a:p>
        </p:txBody>
      </p:sp>
      <p:pic>
        <p:nvPicPr>
          <p:cNvPr id="4" name="Picture 3" descr="nf_ex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364232"/>
            <a:ext cx="8321040" cy="367173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Seam 1/5 · where it comes from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300" b="1">
                <a:solidFill>
                  <a:srgbClr val="0065BD"/>
                </a:solidFill>
              </a:rPr>
              <a:t>3×3 depthwise at (i, j):</a:t>
            </a:r>
          </a:p>
          <a:p>
            <a:pPr lvl="1"/>
            <a:r>
              <a:rPr sz="1100" b="0"/>
              <a:t>y[i,j]  =  Σ_{u,v ∈ {−1,0,1}}  w[u,v] · f[i+u, j+v]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Per tile, f[i+u, j+v] outside the tile does not exist → padding invents it</a:t>
            </a:r>
          </a:p>
          <a:p>
            <a:pPr lvl="1"/>
            <a:r>
              <a:rPr sz="1100" b="0"/>
              <a:t>only the 3×3 depthwise has spatial extent; everything else is 1×1</a:t>
            </a:r>
          </a:p>
          <a:p>
            <a:pPr lvl="1"/>
            <a:r>
              <a:rPr sz="1100" b="0"/>
              <a:t>⇒ exit adapters are 1×1 on purpose: no receptive field, no seam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Contamination grows one ring per layer. b per-tile layers, tile side F:</a:t>
            </a:r>
          </a:p>
          <a:p>
            <a:pPr lvl="1"/>
            <a:r>
              <a:rPr sz="1100" b="0"/>
              <a:t>corrupted fraction  =  1 − ((F − 2b) / F)²   ≈   4b / F</a:t>
            </a:r>
          </a:p>
          <a:p>
            <a:pPr lvl="1"/>
            <a:r>
              <a:rPr sz="1100" b="0"/>
              <a:t>F = 32,  b = 8   →   1 − (16/32)²  =  75% of the tile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Not a line of bad pixels — the error propagates inward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Scales with tile PERIMETER, and with split depth j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Seam 2/5 · padding is an estimator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200" b="1">
                <a:solidFill>
                  <a:srgbClr val="0065BD"/>
                </a:solidFill>
              </a:rPr>
              <a:t>Border column x[0], unseen neighbour x[−1]:</a:t>
            </a:r>
          </a:p>
          <a:p>
            <a:pPr lvl="1"/>
            <a:r>
              <a:rPr sz="1000" b="0"/>
              <a:t>zeros        x̂[−1] = 0</a:t>
            </a:r>
          </a:p>
          <a:p>
            <a:pPr lvl="1"/>
            <a:r>
              <a:rPr sz="1000" b="0"/>
              <a:t>replicate    x̂[−1] = x[0]                         zeroth-order hold</a:t>
            </a:r>
          </a:p>
          <a:p>
            <a:pPr lvl="1"/>
            <a:r>
              <a:rPr sz="1000" b="0"/>
              <a:t>linear       x̂[−1] = 2·x[0] − x[1]                first-order</a:t>
            </a:r>
          </a:p>
          <a:p>
            <a:pPr lvl="1"/>
            <a:r>
              <a:rPr sz="1000" b="0"/>
              <a:t>arls         x̂[−1] = a·x[0],  a fitted per channel   AR(1)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Pure seam penalty · CTC · 256 px · full depth · dB above the release</a:t>
            </a:r>
          </a:p>
          <a:p>
            <a:pPr lvl="1"/>
            <a:r>
              <a:rPr sz="1000" b="0"/>
              <a:t>                qp 0      qp 32     qp 63</a:t>
            </a:r>
          </a:p>
          <a:p>
            <a:pPr lvl="1"/>
            <a:r>
              <a:rPr sz="1000" b="0"/>
              <a:t>zeros         0.1005    0.2162    0.5477</a:t>
            </a:r>
          </a:p>
          <a:p>
            <a:pPr lvl="1"/>
            <a:r>
              <a:rPr sz="1000" b="0"/>
              <a:t>replicate     0.0616    0.0854    0.1070</a:t>
            </a:r>
          </a:p>
          <a:p>
            <a:pPr lvl="1"/>
            <a:r>
              <a:rPr sz="1000" b="0"/>
              <a:t>linear        0.1793    0.2315    0.2638</a:t>
            </a:r>
          </a:p>
          <a:p>
            <a:pPr lvl="1"/>
            <a:r>
              <a:rPr sz="1000" b="0"/>
              <a:t>arls          0.0518    0.0707    0.0879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linear &gt; replicate: extrapolating a gradient amplifies boundary noise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arls wins on dB, REJECTED on cost · +10.7% wall-clock for 0.019 dB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Seam 3/5 · the perimeter law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300" b="1">
                <a:solidFill>
                  <a:srgbClr val="0065BD"/>
                </a:solidFill>
              </a:rPr>
              <a:t>Prediction  4b/F  ⇒  doubling F halves the penalty</a:t>
            </a:r>
          </a:p>
          <a:p>
            <a:pPr lvl="1"/>
            <a:r>
              <a:rPr sz="1100" b="0"/>
              <a:t>zeros      qp 63:   128 px 1.1670  →  256 px 0.5477     ×0.47</a:t>
            </a:r>
          </a:p>
          <a:p>
            <a:pPr lvl="1"/>
            <a:r>
              <a:rPr sz="1100" b="0"/>
              <a:t>replicate  qp 63:   128 px 0.2125  →  256 px 0.1070     ×0.50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Free in compute — a tiled decode's MAC count is independent of F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Paid in routing granularity · 40 tiles/frame at 256 px vs 160 at 128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Halo, same law:  tile F with halo h computes ((F+2h)/F)² pixels</a:t>
            </a:r>
          </a:p>
          <a:p>
            <a:pPr lvl="1"/>
            <a:r>
              <a:rPr sz="1100" b="0"/>
              <a:t>F = 16, h = 4  →  2.25×        F = 32, h = 4  →  1.56×</a:t>
            </a:r>
          </a:p>
          <a:p>
            <a:pPr lvl="1"/>
            <a:r>
              <a:rPr sz="1100" b="0"/>
              <a:t>⇒ halo on the HEAD only (2.40% of MACs); on the trunk it exceeds the saving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Seam 4/5 · repair told where to look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200" b="1">
                <a:solidFill>
                  <a:srgbClr val="0065BD"/>
                </a:solidFill>
              </a:rPr>
              <a:t>A translation-invariant 3×3 must INFER the boundary from content</a:t>
            </a:r>
          </a:p>
          <a:p>
            <a:pPr lvl="1"/>
            <a:r>
              <a:rPr sz="1000" b="0"/>
              <a:t>and corrects the ~25% clean interior, where any correction is damage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But the lattice is known — unpatchify lays tiles on a fixed P×P grid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Repair(f)  =  f  +  G[i mod P, j mod P] · PW( WSiLU( DW3×3(f) ) )</a:t>
            </a:r>
          </a:p>
          <a:p>
            <a:pPr lvl="1"/>
            <a:r>
              <a:rPr sz="1000" b="0"/>
              <a:t>G :  P × P = 256 scalars, shared over all 384 channels</a:t>
            </a:r>
          </a:p>
          <a:p>
            <a:pPr lvl="1"/>
            <a:r>
              <a:rPr sz="1000" b="0"/>
              <a:t>     0.0007% of decoder parameters, no MAC beyond a broadcast multiply</a:t>
            </a:r>
          </a:p>
          <a:p>
            <a:pPr lvl="1"/>
            <a:r>
              <a:rPr sz="1000" b="0"/>
              <a:t>G₀ = exp(−d / τ),  d = distance to nearest tile edge</a:t>
            </a:r>
          </a:p>
          <a:p>
            <a:pPr lvl="1"/>
            <a:r>
              <a:rPr sz="1000" b="0"/>
              <a:t>     ⇒ the gate starts on the seam; training refines, not discovers</a:t>
            </a:r>
          </a:p>
          <a:p>
            <a:pPr lvl="1"/>
            <a:r>
              <a:rPr sz="1000" b="0"/>
              <a:t>PW zero-init ⇒ module starts as identity ⇒ warm start stays bit-exact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Cost 0.95% of the decode — charged inside every saving, incl. the deepest exit (C_{K−1} = 1.0095, not 1.0)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Seam 5/5 · at pixel scale, and what repair is worth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1480820"/>
          </a:xfrm>
        </p:spPr>
        <p:txBody>
          <a:bodyPr/>
          <a:lstStyle/>
          <a:p>
            <a:pPr/>
            <a:r>
              <a:rPr sz="1200" b="1">
                <a:solidFill>
                  <a:srgbClr val="0065BD"/>
                </a:solidFill>
              </a:rPr>
              <a:t>192 px across a tile boundary · qp 63 · full depth · error ×40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Repair ON vs OFF, 8 sequences:   full depth 0.0672 → 0.0750 (worse)   ·   routed 0.1259 → 0.1239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0.0020 dB/point of decode  ·  arls was rejected at 0.0018</a:t>
            </a:r>
          </a:p>
          <a:p>
            <a:pPr lvl="1"/>
            <a:r>
              <a:rPr sz="1000" b="0"/>
              <a:t>trained jointly ⇒ an inference ablation is not the clean test</a:t>
            </a:r>
          </a:p>
        </p:txBody>
      </p:sp>
      <p:pic>
        <p:nvPicPr>
          <p:cNvPr id="4" name="Picture 3" descr="seam_patch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280" y="3062732"/>
            <a:ext cx="7667440" cy="338378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MACs are not milliseconds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2204720"/>
          </a:xfrm>
        </p:spPr>
        <p:txBody>
          <a:bodyPr/>
          <a:lstStyle/>
          <a:p>
            <a:pPr/>
            <a:r>
              <a:rPr sz="1200" b="1">
                <a:solidFill>
                  <a:srgbClr val="0065BD"/>
                </a:solidFill>
              </a:rPr>
              <a:t>1920×1088 · interleaved · median of 40</a:t>
            </a:r>
          </a:p>
          <a:p>
            <a:pPr lvl="1"/>
            <a:r>
              <a:rPr sz="1000" b="0"/>
              <a:t>0.1 dB: 28% of MACs -&gt; 13% of wall-clock (1.14x)</a:t>
            </a:r>
          </a:p>
          <a:p>
            <a:pPr lvl="1"/>
            <a:r>
              <a:rPr sz="1000" b="0"/>
              <a:t>0.3 dB: 39% of MACs -&gt; 28% of wall-clock (1.38x)</a:t>
            </a:r>
          </a:p>
          <a:p>
            <a:pPr lvl="1"/>
            <a:r>
              <a:rPr sz="1000" b="0"/>
              <a:t>0.5 dB: 42% of MACs -&gt; 34% of wall-clock (1.51x)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Gap  =  tiling overhead 3.7–6.5%  +  per-group bookkeeping</a:t>
            </a:r>
          </a:p>
          <a:p>
            <a:pPr lvl="1"/>
            <a:r>
              <a:rPr sz="1000" b="0"/>
              <a:t>mask + gather + scatter + one device↔host sync per group</a:t>
            </a:r>
          </a:p>
          <a:p>
            <a:pPr lvl="1"/>
            <a:r>
              <a:rPr sz="1000" b="0"/>
              <a:t>36.4 ms vs 77.5 ms of convolution  =  32% of the loop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Recoverable · sort by exit depth once → 23–37% back, bit-identical</a:t>
            </a:r>
          </a:p>
        </p:txBody>
      </p:sp>
      <p:pic>
        <p:nvPicPr>
          <p:cNvPr id="4" name="Picture 3" descr="lat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66" y="3786632"/>
            <a:ext cx="8077068" cy="265988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Against the released decoder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1722120"/>
          </a:xfrm>
        </p:spPr>
        <p:txBody>
          <a:bodyPr/>
          <a:lstStyle/>
          <a:p>
            <a:pPr/>
            <a:r>
              <a:rPr sz="1200" b="1">
                <a:solidFill>
                  <a:srgbClr val="0065BD"/>
                </a:solidFill>
              </a:rPr>
              <a:t>At 0.1 dB · 34.0% · 26.8% · 20.8%   (qp 0 / 32 / 63)</a:t>
            </a:r>
          </a:p>
          <a:p>
            <a:pPr lvl="1"/>
            <a:r>
              <a:rPr sz="1000" b="0"/>
              <a:t>÷ RELEASE (1.0), not our deepest exit (1.0095) — earlier decks read 0.6–0.75 pts higher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The 30% target is cleared by qp 0/16 at 0.1 dB, and by qp 32/48/63 at 0.3 dB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Ladder ceiling 41.9% at every rate, set by the split depth j=2, not by training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BD-saving 30.8% over dB in [0.064, 0.196] (qp 0: 37% · 16: 34% · 32: 31% · 48: 27% · 63: 24%); BD-quality 0.062 dB over saving in [10%, 30%]</a:t>
            </a:r>
          </a:p>
        </p:txBody>
      </p:sp>
      <p:pic>
        <p:nvPicPr>
          <p:cNvPr id="4" name="Picture 3" descr="nf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3304032"/>
            <a:ext cx="8321040" cy="287728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Who decides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1722120"/>
          </a:xfrm>
        </p:spPr>
        <p:txBody>
          <a:bodyPr/>
          <a:lstStyle/>
          <a:p>
            <a:pPr/>
            <a:r>
              <a:rPr sz="1200" b="1">
                <a:solidFill>
                  <a:srgbClr val="0065BD"/>
                </a:solidFill>
              </a:rPr>
              <a:t>A   argmin_k ( MSE[t,k] + λ·C_k )   ~94 bit/frame = 0.008–0.020% of rate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B   argmax_k ( log softmax(z)_k − β·C_k )   nothing sent, file byte-identical</a:t>
            </a:r>
          </a:p>
          <a:p>
            <a:pPr lvl="1"/>
            <a:r>
              <a:rPr sz="1000" b="0"/>
              <a:t>qp0: A 34.0% signalled vs B 30.1% predicted — gap 3.96 pts</a:t>
            </a:r>
          </a:p>
          <a:p>
            <a:pPr lvl="1"/>
            <a:r>
              <a:rPr sz="1000" b="0"/>
              <a:t>qp32: A 26.8% signalled vs B 23.9% predicted — gap 2.82 pts</a:t>
            </a:r>
          </a:p>
          <a:p>
            <a:pPr lvl="1"/>
            <a:r>
              <a:rPr sz="1000" b="0"/>
              <a:t>qp63: A 20.8% signalled vs B 19.3% predicted — gap 1.50 pts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Asymmetric ·  A: +1.21 decodes at the ENCODER  ·  B: +0.163% at the decoder</a:t>
            </a:r>
          </a:p>
        </p:txBody>
      </p:sp>
      <p:pic>
        <p:nvPicPr>
          <p:cNvPr id="4" name="Picture 3" descr="ab_deci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3304032"/>
            <a:ext cx="8321040" cy="2722693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claim overturned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1722120"/>
          </a:xfrm>
        </p:spPr>
        <p:txBody>
          <a:bodyPr/>
          <a:lstStyle/>
          <a:p>
            <a:pPr/>
            <a:r>
              <a:rPr sz="1200" b="1">
                <a:solidFill>
                  <a:srgbClr val="0065BD"/>
                </a:solidFill>
              </a:rPr>
              <a:t>Earlier claim: prediction fails, signalling works</a:t>
            </a:r>
          </a:p>
          <a:p>
            <a:pPr lvl="1"/>
            <a:r>
              <a:rPr sz="1000" b="0"/>
              <a:t>router trained JOINTLY with a moving decoder → collapsed, agreement 0.000 at qp 63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Retrained against the FROZEN decoder: 0.848 agreement, budget met at every rate</a:t>
            </a:r>
          </a:p>
          <a:p>
            <a:pPr lvl="1"/>
            <a:r>
              <a:rPr sz="1000" b="0"/>
              <a:t>⇒ the limit was the training target, not the information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Cost of not signalling ·  0.1 dB 1.35–3.96 pts  ·  0.3 dB 0.16–0.95  ·  0.5 dB 0.16–1.23</a:t>
            </a:r>
          </a:p>
          <a:p>
            <a:pPr lvl="1"/>
            <a:r>
              <a:rPr sz="1000" b="0"/>
              <a:t>at the ceiling the gap is 0.16 = the router's own 0.163%</a:t>
            </a:r>
          </a:p>
        </p:txBody>
      </p:sp>
      <p:pic>
        <p:nvPicPr>
          <p:cNvPr id="4" name="Picture 3" descr="ab_budge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3304032"/>
            <a:ext cx="8321039" cy="2827166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price of speed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1963420"/>
          </a:xfrm>
        </p:spPr>
        <p:txBody>
          <a:bodyPr/>
          <a:lstStyle/>
          <a:p>
            <a:pPr/>
            <a:r>
              <a:rPr sz="1200" b="1">
                <a:solidFill>
                  <a:srgbClr val="0065BD"/>
                </a:solidFill>
              </a:rPr>
              <a:t>BD-Rate = cost · MACs saved = benefit · released intra decoder, YUV420</a:t>
            </a:r>
          </a:p>
          <a:p>
            <a:pPr lvl="1"/>
            <a:r>
              <a:rPr sz="1000" b="0"/>
              <a:t>0.1 dB  0.88% / 27.6%    0.3 dB  2.51% / 39.5%    0.5 dB  3.36% / 41.7%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Per unit of REAL speedup:  6.2 · 6.6 · 6.5  BD-Rate points</a:t>
            </a:r>
          </a:p>
          <a:p>
            <a:pPr lvl="1"/>
            <a:r>
              <a:rPr sz="1000" b="0"/>
              <a:t>flat across the range — an exchange rate, not a chosen operating point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DCVC-UF HT-L → HT-S:  10.6 points for 1.66×  =  16.1 points per unit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⇒ adaptive depth buys speed 2.4× cheaper than shrinking the model</a:t>
            </a:r>
          </a:p>
          <a:p>
            <a:pPr lvl="1"/>
            <a:r>
              <a:rPr sz="1000" b="0"/>
              <a:t>their pair is whole-video, ours intra-only → a calibration, not a head-to-head</a:t>
            </a:r>
          </a:p>
        </p:txBody>
      </p:sp>
      <p:pic>
        <p:nvPicPr>
          <p:cNvPr id="4" name="Picture 3" descr="paper_rd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3545332"/>
            <a:ext cx="8321040" cy="2722552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Related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200" b="1">
                <a:solidFill>
                  <a:srgbClr val="0065BD"/>
                </a:solidFill>
              </a:rPr>
              <a:t>Early exit / dynamic depth · BranchyNet, MSDNet, SkipNet</a:t>
            </a:r>
          </a:p>
          <a:p>
            <a:pPr lvl="1"/>
            <a:r>
              <a:rPr sz="1000" b="0"/>
              <a:t>decide from the network's own output; ours decides per SPATIAL TILE for a fixed output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ClassSR</a:t>
            </a:r>
          </a:p>
          <a:p>
            <a:pPr lvl="1"/>
            <a:r>
              <a:rPr sz="1000" b="0"/>
              <a:t>routes patches to differently sized SR branches for a cost target</a:t>
            </a:r>
          </a:p>
          <a:p>
            <a:pPr lvl="1"/>
            <a:r>
              <a:rPr sz="1000" b="0"/>
              <a:t>ours: a DEPTH inside one network, for a quality target, bitstream fixed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Xie et al. · RDC optimisation in neural image compression · 2305.07678</a:t>
            </a:r>
          </a:p>
          <a:p>
            <a:pPr lvl="1"/>
            <a:r>
              <a:rPr sz="1000" b="0"/>
              <a:t>adaptive spatial mask decoded from side information — closest to our B</a:t>
            </a:r>
          </a:p>
          <a:p>
            <a:pPr lvl="1"/>
            <a:r>
              <a:rPr sz="1000" b="0"/>
              <a:t>adapts the ENTROPY model's dependencies; we adapt SYNTHESIS depth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Spatial competition · 2605.13243</a:t>
            </a:r>
          </a:p>
          <a:p>
            <a:pPr lvl="1"/>
            <a:r>
              <a:rPr sz="1000" b="0"/>
              <a:t>per-region mode map at 1.8e-4 bpp (ours 4.5e-5) — selects CODECS for rate, not depth for compute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Loss-free load balancing · 2408.15664 · used directly</a:t>
            </a:r>
          </a:p>
          <a:p>
            <a:pPr lvl="1"/>
            <a:r>
              <a:rPr sz="1000" b="0"/>
              <a:t>balanced toward the ORACLE's exit mix, not uniform — exits are not interchangeable experts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Quantisation · a second, orthogonal lever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2331720"/>
          </a:xfrm>
        </p:spPr>
        <p:txBody>
          <a:bodyPr/>
          <a:lstStyle/>
          <a:p>
            <a:pPr/>
            <a:r>
              <a:rPr sz="1100" b="1">
                <a:solidFill>
                  <a:srgbClr val="0065BD"/>
                </a:solidFill>
              </a:rPr>
              <a:t>Weight-only · per-channel · no calibration · decoder only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Registered prediction — shallow exits suffer more — FALSIFIED</a:t>
            </a:r>
          </a:p>
          <a:p>
            <a:pPr lvl="1"/>
            <a:r>
              <a:rPr sz="900" b="0"/>
              <a:t>qp 63, 8 bit: exit 2 +0.108 dB, deepest +0.111 dB, ratio 0.97</a:t>
            </a:r>
          </a:p>
          <a:p>
            <a:pPr lvl="1"/>
            <a:r>
              <a:rPr sz="900" b="0"/>
              <a:t>the deepest starts at 0.073 dB and has no headroom for a noise floor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What matters is the SPREAD — the only thing a router can act on</a:t>
            </a:r>
          </a:p>
          <a:p>
            <a:pPr lvl="1"/>
            <a:r>
              <a:rPr sz="900" b="0"/>
              <a:t>qp 63   fp32 2.864 → 8 b 2.876 → 6 b 2.224 → 4 b 1.398   ·   BOPs 1.000 → 0.062 → 0.035 → 0.016</a:t>
            </a:r>
          </a:p>
          <a:p>
            <a:pPr lvl="1"/>
            <a:r>
              <a:rPr sz="900" b="0"/>
              <a:t>qp 0    0.704 → 0.712 → 0.791 → 0.837   — flat to rising, no collapse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8 bit composes cleanly at 16× fewer BOPs · the collapse is a HIGH-RATE effect, not a general one</a:t>
            </a:r>
          </a:p>
          <a:p>
            <a:pPr lvl="1"/>
            <a:r>
              <a:rPr sz="900" b="0"/>
              <a:t>caveat: 8 bit still raises the floor 0.073 → 0.184 dB at qp 63</a:t>
            </a:r>
          </a:p>
        </p:txBody>
      </p:sp>
      <p:pic>
        <p:nvPicPr>
          <p:cNvPr id="4" name="Picture 3" descr="qu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991" y="3913631"/>
            <a:ext cx="7786018" cy="2532888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per-tile beats any fixed mix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1963420"/>
          </a:xfrm>
        </p:spPr>
        <p:txBody>
          <a:bodyPr/>
          <a:lstStyle/>
          <a:p>
            <a:pPr/>
            <a:r>
              <a:rPr sz="1200" b="1">
                <a:solidFill>
                  <a:srgbClr val="0065BD"/>
                </a:solidFill>
              </a:rPr>
              <a:t>Cost additive over tiles, MSE a mean over tiles ⇒ both affine in the assignment</a:t>
            </a:r>
          </a:p>
          <a:p>
            <a:pPr lvl="1"/>
            <a:r>
              <a:rPr sz="1000" b="0"/>
              <a:t>fixed proportions → convex hull of the K exit points</a:t>
            </a:r>
          </a:p>
          <a:p>
            <a:pPr lvl="1"/>
            <a:r>
              <a:rPr sz="1000" b="0"/>
              <a:t>per-tile assignment → Minkowski average of the N tile hulls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Gap  =  min-of-average  −  average-of-min  ≥  0</a:t>
            </a:r>
          </a:p>
          <a:p>
            <a:pPr lvl="1"/>
            <a:r>
              <a:rPr sz="1000" b="0"/>
              <a:t>zero iff every tile prefers the same exit — this IS the value of adaptivity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Measured Δ/J:  0.39%  →  2.09%  with rate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Same mechanism per sequence · best/worst CTC clip 3.8× at qp 63 vs 1.5× at qp 0</a:t>
            </a:r>
          </a:p>
        </p:txBody>
      </p:sp>
      <p:pic>
        <p:nvPicPr>
          <p:cNvPr id="4" name="Picture 3" descr="nf_heterogene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3545332"/>
            <a:ext cx="8321039" cy="2261733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is still owed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300" b="1">
                <a:solidFill>
                  <a:srgbClr val="0065BD"/>
                </a:solidFill>
              </a:rPr>
              <a:t>A static decoder truncated to the depth we average</a:t>
            </a:r>
          </a:p>
          <a:p>
            <a:pPr lvl="1"/>
            <a:r>
              <a:rPr sz="1100" b="0"/>
              <a:t>6.95 of 12 blocks at qp 0 · 8.78 at qp 63</a:t>
            </a:r>
          </a:p>
          <a:p>
            <a:pPr lvl="1"/>
            <a:r>
              <a:rPr sz="1100" b="0"/>
              <a:t>decides whether adaptivity is the contribution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All six runs to 4 epochs</a:t>
            </a:r>
          </a:p>
          <a:p>
            <a:pPr lvl="1"/>
            <a:r>
              <a:rPr sz="1100" b="0"/>
              <a:t>every number here is one checkpoint; the saving is still climbing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HEVC B / C / D · 13 of 53 sequences · reported as NOT MEASURED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Sorted-tile execution, end to end</a:t>
            </a:r>
          </a:p>
          <a:p>
            <a:pPr lvl="1"/>
            <a:r>
              <a:rPr sz="1100" b="0"/>
              <a:t>prototyped and bit-identical; not landed while six runs import the decoder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Wall-clock on an idle card · these ratios were taken at 100% utilisation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Open · CONTROL degrades over its second epoch and the cause is unknown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UM_Vorlage_hellblau">
  <a:themeElements>
    <a:clrScheme name="Leere Präsentation 1">
      <a:dk1>
        <a:srgbClr val="000000"/>
      </a:dk1>
      <a:lt1>
        <a:srgbClr val="FFFFFF"/>
      </a:lt1>
      <a:dk2>
        <a:srgbClr val="0065BD"/>
      </a:dk2>
      <a:lt2>
        <a:srgbClr val="005293"/>
      </a:lt2>
      <a:accent1>
        <a:srgbClr val="A2AD00"/>
      </a:accent1>
      <a:accent2>
        <a:srgbClr val="E37222"/>
      </a:accent2>
      <a:accent3>
        <a:srgbClr val="AAB8DB"/>
      </a:accent3>
      <a:accent4>
        <a:srgbClr val="DADADA"/>
      </a:accent4>
      <a:accent5>
        <a:srgbClr val="CED3AA"/>
      </a:accent5>
      <a:accent6>
        <a:srgbClr val="CE671E"/>
      </a:accent6>
      <a:hlink>
        <a:srgbClr val="DAD7CB"/>
      </a:hlink>
      <a:folHlink>
        <a:srgbClr val="9C9D9F"/>
      </a:folHlink>
    </a:clrScheme>
    <a:fontScheme name="Leere Präsentatio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r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de-DE" sz="2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r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de-DE" sz="2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</a:defRPr>
        </a:defPPr>
      </a:lstStyle>
    </a:lnDef>
  </a:objectDefaults>
  <a:extraClrSchemeLst>
    <a:extraClrScheme>
      <a:clrScheme name="Leere Präsentation 1">
        <a:dk1>
          <a:srgbClr val="000000"/>
        </a:dk1>
        <a:lt1>
          <a:srgbClr val="FFFFFF"/>
        </a:lt1>
        <a:dk2>
          <a:srgbClr val="0065BD"/>
        </a:dk2>
        <a:lt2>
          <a:srgbClr val="005293"/>
        </a:lt2>
        <a:accent1>
          <a:srgbClr val="A2AD00"/>
        </a:accent1>
        <a:accent2>
          <a:srgbClr val="E37222"/>
        </a:accent2>
        <a:accent3>
          <a:srgbClr val="AAB8DB"/>
        </a:accent3>
        <a:accent4>
          <a:srgbClr val="DADADA"/>
        </a:accent4>
        <a:accent5>
          <a:srgbClr val="CED3AA"/>
        </a:accent5>
        <a:accent6>
          <a:srgbClr val="CE671E"/>
        </a:accent6>
        <a:hlink>
          <a:srgbClr val="DAD7CB"/>
        </a:hlink>
        <a:folHlink>
          <a:srgbClr val="9C9D9F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Larissa-Desig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Larissa-Desig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Microsoft Office PowerPoint</Application>
  <PresentationFormat>Bildschirmpräsentation (4:3)</PresentationFormat>
  <Paragraphs>0</Paragraphs>
  <Slides>2</Slides>
  <Notes>0</Notes>
  <HiddenSlides>0</HiddenSlides>
  <MMClips>0</MMClips>
  <ScaleCrop>false</ScaleCrop>
  <HeadingPairs>
    <vt:vector size="4" baseType="variant">
      <vt:variant>
        <vt:lpstr>Design</vt:lpstr>
      </vt:variant>
      <vt:variant>
        <vt:i4>1</vt:i4>
      </vt:variant>
      <vt:variant>
        <vt:lpstr>Folientitel</vt:lpstr>
      </vt:variant>
      <vt:variant>
        <vt:i4>2</vt:i4>
      </vt:variant>
    </vt:vector>
  </HeadingPairs>
  <TitlesOfParts>
    <vt:vector size="3" baseType="lpstr">
      <vt:lpstr>TUM_Vorlage_hellblau</vt:lpstr>
      <vt:lpstr>PowerPoint-Präsentation</vt:lpstr>
      <vt:lpstr>PowerPoint-Präsentation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Folie 1</dc:title>
  <dc:creator>support</dc:creator>
  <cp:lastModifiedBy>Schuwerk, Clemens</cp:lastModifiedBy>
  <cp:revision>12</cp:revision>
  <dcterms:created xsi:type="dcterms:W3CDTF">2009-06-05T15:14:26Z</dcterms:created>
  <dcterms:modified xsi:type="dcterms:W3CDTF">2014-10-01T15:01:51Z</dcterms:modified>
</cp:coreProperties>
</file>