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de-DE"/>
    </a:defPPr>
    <a:lvl1pPr algn="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CA82"/>
    <a:srgbClr val="91AC6B"/>
    <a:srgbClr val="41BEFF"/>
    <a:srgbClr val="0099FF"/>
    <a:srgbClr val="CA213F"/>
    <a:srgbClr val="E53418"/>
    <a:srgbClr val="FF8000"/>
    <a:srgbClr val="0065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34" d="100"/>
          <a:sy n="134" d="100"/>
        </p:scale>
        <p:origin x="-1002" y="-72"/>
      </p:cViewPr>
      <p:guideLst>
        <p:guide orient="horz" pos="106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08000" y="169863"/>
            <a:ext cx="337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91000" y="169863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B8682F5A-9025-5143-B95A-464527BD45C7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00069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224B126A-EBFB-3945-B395-849A2AAB6EE9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07213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-65" charset="-128"/>
        <a:cs typeface="ＭＳ Ｐゴシック" pitchFamily="18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-65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20700" y="2735860"/>
            <a:ext cx="8128000" cy="1295400"/>
          </a:xfrm>
        </p:spPr>
        <p:txBody>
          <a:bodyPr/>
          <a:lstStyle>
            <a:lvl1pPr algn="ctr">
              <a:defRPr sz="3200" b="0">
                <a:solidFill>
                  <a:schemeClr val="bg2"/>
                </a:solidFill>
              </a:defRPr>
            </a:lvl1pPr>
          </a:lstStyle>
          <a:p>
            <a:r>
              <a:rPr lang="en-US" noProof="0" dirty="0" err="1" smtClean="0"/>
              <a:t>Titelmasterformat</a:t>
            </a:r>
            <a:r>
              <a:rPr lang="en-US" noProof="0" dirty="0" smtClean="0"/>
              <a:t> </a:t>
            </a:r>
            <a:r>
              <a:rPr lang="en-US" noProof="0" dirty="0" err="1" smtClean="0"/>
              <a:t>durch</a:t>
            </a:r>
            <a:r>
              <a:rPr lang="en-US" noProof="0" dirty="0" smtClean="0"/>
              <a:t>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20700" y="4336060"/>
            <a:ext cx="8128000" cy="1752600"/>
          </a:xfrm>
        </p:spPr>
        <p:txBody>
          <a:bodyPr/>
          <a:lstStyle>
            <a:lvl1pPr marL="0" indent="0" algn="ctr">
              <a:buFontTx/>
              <a:buNone/>
              <a:defRPr sz="2400"/>
            </a:lvl1pPr>
          </a:lstStyle>
          <a:p>
            <a:r>
              <a:rPr lang="en-US" noProof="0" dirty="0" err="1" smtClean="0"/>
              <a:t>Formatvorlage</a:t>
            </a:r>
            <a:r>
              <a:rPr lang="en-US" noProof="0" dirty="0" smtClean="0"/>
              <a:t> des </a:t>
            </a:r>
            <a:r>
              <a:rPr lang="en-US" noProof="0" dirty="0" err="1" smtClean="0"/>
              <a:t>Untertitelmasters</a:t>
            </a:r>
            <a:r>
              <a:rPr lang="en-US" noProof="0" dirty="0" smtClean="0"/>
              <a:t> </a:t>
            </a:r>
            <a:r>
              <a:rPr lang="en-US" noProof="0" dirty="0" err="1" smtClean="0"/>
              <a:t>durch</a:t>
            </a:r>
            <a:r>
              <a:rPr lang="en-US" noProof="0" dirty="0" smtClean="0"/>
              <a:t>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508000" y="6400800"/>
            <a:ext cx="8153400" cy="304800"/>
          </a:xfrm>
        </p:spPr>
        <p:txBody>
          <a:bodyPr anchor="t"/>
          <a:lstStyle>
            <a:lvl1pPr>
              <a:defRPr/>
            </a:lvl1pPr>
          </a:lstStyle>
          <a:p>
            <a:endParaRPr lang="en-US" noProof="0" dirty="0"/>
          </a:p>
        </p:txBody>
      </p:sp>
      <p:pic>
        <p:nvPicPr>
          <p:cNvPr id="10" name="Bild 9" descr="LS_Medientechnik_OS_Blau_RGB.wmf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77" y="420121"/>
            <a:ext cx="546137" cy="546137"/>
          </a:xfrm>
          <a:prstGeom prst="rect">
            <a:avLst/>
          </a:prstGeom>
        </p:spPr>
      </p:pic>
      <p:pic>
        <p:nvPicPr>
          <p:cNvPr id="12" name="Picture 29" descr="U:\Logos und Grafiken\TUMLogo_oZ_Vollfl_blau_RGB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920" y="423276"/>
            <a:ext cx="1026072" cy="541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531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noProof="0" dirty="0" err="1" smtClean="0"/>
              <a:t>Titelmasterformat</a:t>
            </a:r>
            <a:r>
              <a:rPr lang="en-US" noProof="0" dirty="0" smtClean="0"/>
              <a:t> </a:t>
            </a:r>
            <a:r>
              <a:rPr lang="en-US" noProof="0" dirty="0" err="1" smtClean="0"/>
              <a:t>durch</a:t>
            </a:r>
            <a:r>
              <a:rPr lang="en-US" noProof="0" dirty="0" smtClean="0"/>
              <a:t>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</a:lstStyle>
          <a:p>
            <a:pPr lvl="0"/>
            <a:r>
              <a:rPr lang="en-US" noProof="0" dirty="0" err="1" smtClean="0"/>
              <a:t>Textmasterformate</a:t>
            </a:r>
            <a:r>
              <a:rPr lang="en-US" noProof="0" dirty="0" smtClean="0"/>
              <a:t> </a:t>
            </a:r>
            <a:r>
              <a:rPr lang="en-US" noProof="0" dirty="0" err="1" smtClean="0"/>
              <a:t>durch</a:t>
            </a:r>
            <a:r>
              <a:rPr lang="en-US" noProof="0" dirty="0" smtClean="0"/>
              <a:t>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Zweite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Dritte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4"/>
            <a:r>
              <a:rPr lang="en-US" noProof="0" dirty="0" err="1" smtClean="0"/>
              <a:t>Fünfte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608F0F-3717-0942-9241-E6563A14553B}" type="datetime1">
              <a:rPr lang="en-US" noProof="0" smtClean="0"/>
              <a:pPr/>
              <a:t>10/1/2014</a:t>
            </a:fld>
            <a:endParaRPr lang="en-US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noProof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CC94CD-1FE7-0C44-80F4-2964C2C99554}" type="slidenum">
              <a:rPr lang="en-US" noProof="0" smtClean="0"/>
              <a:pPr/>
              <a:t>‹Nr.›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85259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aseline="0"/>
            </a:lvl1pPr>
          </a:lstStyle>
          <a:p>
            <a:r>
              <a:rPr lang="en-US" noProof="0" dirty="0" err="1" smtClean="0"/>
              <a:t>Titelmasterformat</a:t>
            </a:r>
            <a:r>
              <a:rPr lang="en-US" noProof="0" dirty="0" smtClean="0"/>
              <a:t> </a:t>
            </a:r>
            <a:r>
              <a:rPr lang="en-US" noProof="0" dirty="0" err="1" smtClean="0"/>
              <a:t>durch</a:t>
            </a:r>
            <a:r>
              <a:rPr lang="en-US" noProof="0" dirty="0" smtClean="0"/>
              <a:t>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08000" y="1692275"/>
            <a:ext cx="3987800" cy="44799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 smtClean="0"/>
              <a:t>Textmasterformate</a:t>
            </a:r>
            <a:r>
              <a:rPr lang="en-US" noProof="0" dirty="0" smtClean="0"/>
              <a:t> </a:t>
            </a:r>
            <a:r>
              <a:rPr lang="en-US" noProof="0" dirty="0" err="1" smtClean="0"/>
              <a:t>durch</a:t>
            </a:r>
            <a:r>
              <a:rPr lang="en-US" noProof="0" dirty="0" smtClean="0"/>
              <a:t>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Zweite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Dritte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4"/>
            <a:r>
              <a:rPr lang="en-US" noProof="0" dirty="0" err="1" smtClean="0"/>
              <a:t>Fünfte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92275"/>
            <a:ext cx="3987800" cy="44799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 smtClean="0"/>
              <a:t>Textmasterformate</a:t>
            </a:r>
            <a:r>
              <a:rPr lang="en-US" noProof="0" dirty="0" smtClean="0"/>
              <a:t> </a:t>
            </a:r>
            <a:r>
              <a:rPr lang="en-US" noProof="0" dirty="0" err="1" smtClean="0"/>
              <a:t>durch</a:t>
            </a:r>
            <a:r>
              <a:rPr lang="en-US" noProof="0" dirty="0" smtClean="0"/>
              <a:t>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Zweite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Dritte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4"/>
            <a:r>
              <a:rPr lang="en-US" noProof="0" dirty="0" err="1" smtClean="0"/>
              <a:t>Fünfte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83E054-FA98-0D4D-A84E-988AA305B92A}" type="datetime1">
              <a:rPr lang="en-US" noProof="0" smtClean="0"/>
              <a:pPr/>
              <a:t>10/1/2014</a:t>
            </a:fld>
            <a:endParaRPr lang="en-US" noProof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noProof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EA83A0-A104-9441-ACE9-BF30B05124E9}" type="slidenum">
              <a:rPr lang="en-US" noProof="0" smtClean="0"/>
              <a:pPr/>
              <a:t>‹Nr.›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115709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w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849790"/>
            <a:ext cx="8128000" cy="60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 smtClean="0"/>
              <a:t>Mastertitelformat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701800"/>
            <a:ext cx="8128000" cy="447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 smtClean="0"/>
              <a:t>Mastertextformat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Zweite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Dritte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4"/>
            <a:r>
              <a:rPr lang="en-US" noProof="0" dirty="0" err="1" smtClean="0"/>
              <a:t>Fünfte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08001" y="6400800"/>
            <a:ext cx="121075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fld id="{35369418-08C0-BE43-AA9B-AD0B2EE4ADC5}" type="datetime1">
              <a:rPr lang="en-US" smtClean="0"/>
              <a:pPr/>
              <a:t>10/1/2014</a:t>
            </a:fld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986114" y="6400800"/>
            <a:ext cx="516580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38376" y="6400800"/>
            <a:ext cx="119762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fld id="{4E0006A5-54B2-7248-935D-336FE5B38FBE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ext Box 18"/>
          <p:cNvSpPr txBox="1">
            <a:spLocks noChangeArrowheads="1"/>
          </p:cNvSpPr>
          <p:nvPr userDrawn="1"/>
        </p:nvSpPr>
        <p:spPr bwMode="auto">
          <a:xfrm>
            <a:off x="6224653" y="479425"/>
            <a:ext cx="1846197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900" b="0" noProof="0" dirty="0" err="1" smtClean="0">
                <a:solidFill>
                  <a:schemeClr val="bg2"/>
                </a:solidFill>
              </a:rPr>
              <a:t>Technische</a:t>
            </a:r>
            <a:r>
              <a:rPr lang="en-US" sz="900" b="0" noProof="0" dirty="0" smtClean="0">
                <a:solidFill>
                  <a:schemeClr val="bg2"/>
                </a:solidFill>
              </a:rPr>
              <a:t> </a:t>
            </a:r>
            <a:r>
              <a:rPr lang="en-US" sz="900" b="0" noProof="0" dirty="0" err="1" smtClean="0">
                <a:solidFill>
                  <a:schemeClr val="bg2"/>
                </a:solidFill>
              </a:rPr>
              <a:t>Universität</a:t>
            </a:r>
            <a:r>
              <a:rPr lang="en-US" sz="900" b="0" noProof="0" dirty="0" smtClean="0">
                <a:solidFill>
                  <a:schemeClr val="bg2"/>
                </a:solidFill>
              </a:rPr>
              <a:t> </a:t>
            </a:r>
            <a:r>
              <a:rPr lang="en-US" sz="900" b="0" noProof="0" dirty="0" err="1" smtClean="0">
                <a:solidFill>
                  <a:schemeClr val="bg2"/>
                </a:solidFill>
              </a:rPr>
              <a:t>München</a:t>
            </a:r>
            <a:endParaRPr lang="en-US" sz="900" b="0" noProof="0" dirty="0">
              <a:solidFill>
                <a:schemeClr val="bg2"/>
              </a:solidFill>
            </a:endParaRPr>
          </a:p>
        </p:txBody>
      </p:sp>
      <p:sp>
        <p:nvSpPr>
          <p:cNvPr id="14" name="Line 23"/>
          <p:cNvSpPr>
            <a:spLocks noChangeShapeType="1"/>
          </p:cNvSpPr>
          <p:nvPr userDrawn="1"/>
        </p:nvSpPr>
        <p:spPr bwMode="auto">
          <a:xfrm>
            <a:off x="0" y="6324600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b="0" noProof="0">
              <a:latin typeface="Arial" pitchFamily="34" charset="0"/>
              <a:ea typeface="ＭＳ Ｐゴシック" pitchFamily="18" charset="-128"/>
              <a:cs typeface="ＭＳ Ｐゴシック" pitchFamily="18" charset="-128"/>
            </a:endParaRPr>
          </a:p>
        </p:txBody>
      </p:sp>
      <p:sp>
        <p:nvSpPr>
          <p:cNvPr id="16" name="Line 22"/>
          <p:cNvSpPr>
            <a:spLocks noChangeShapeType="1"/>
          </p:cNvSpPr>
          <p:nvPr userDrawn="1"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b="0" noProof="0">
              <a:latin typeface="Arial" pitchFamily="34" charset="0"/>
              <a:ea typeface="ＭＳ Ｐゴシック" pitchFamily="18" charset="-128"/>
              <a:cs typeface="ＭＳ Ｐゴシック" pitchFamily="18" charset="-128"/>
            </a:endParaRPr>
          </a:p>
        </p:txBody>
      </p:sp>
      <p:pic>
        <p:nvPicPr>
          <p:cNvPr id="2" name="Bild 1" descr="LS_Medientechnik_OS_Blau_RGB.wmf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11" y="286445"/>
            <a:ext cx="362833" cy="362833"/>
          </a:xfrm>
          <a:prstGeom prst="rect">
            <a:avLst/>
          </a:prstGeom>
        </p:spPr>
      </p:pic>
      <p:sp>
        <p:nvSpPr>
          <p:cNvPr id="13" name="Text Box 18"/>
          <p:cNvSpPr txBox="1">
            <a:spLocks noChangeArrowheads="1"/>
          </p:cNvSpPr>
          <p:nvPr userDrawn="1"/>
        </p:nvSpPr>
        <p:spPr bwMode="auto">
          <a:xfrm>
            <a:off x="866990" y="335830"/>
            <a:ext cx="19039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/>
            <a:r>
              <a:rPr lang="en-US" sz="900" b="0" noProof="0" dirty="0" smtClean="0">
                <a:solidFill>
                  <a:schemeClr val="bg2"/>
                </a:solidFill>
              </a:rPr>
              <a:t>Chair of Media </a:t>
            </a:r>
            <a:r>
              <a:rPr lang="en-US" sz="900" b="0" noProof="0" dirty="0" smtClean="0">
                <a:solidFill>
                  <a:schemeClr val="bg2"/>
                </a:solidFill>
              </a:rPr>
              <a:t>Technology</a:t>
            </a:r>
          </a:p>
          <a:p>
            <a:pPr algn="l"/>
            <a:r>
              <a:rPr lang="en-US" sz="900" b="0" noProof="0" dirty="0" smtClean="0">
                <a:solidFill>
                  <a:schemeClr val="bg2"/>
                </a:solidFill>
              </a:rPr>
              <a:t>Prof. Dr.-</a:t>
            </a:r>
            <a:r>
              <a:rPr lang="en-US" sz="900" b="0" noProof="0" dirty="0" err="1" smtClean="0">
                <a:solidFill>
                  <a:schemeClr val="bg2"/>
                </a:solidFill>
              </a:rPr>
              <a:t>Ing</a:t>
            </a:r>
            <a:r>
              <a:rPr lang="en-US" sz="900" b="0" noProof="0" dirty="0" smtClean="0">
                <a:solidFill>
                  <a:schemeClr val="bg2"/>
                </a:solidFill>
              </a:rPr>
              <a:t>. </a:t>
            </a:r>
            <a:r>
              <a:rPr lang="en-US" sz="900" b="0" noProof="0" dirty="0" err="1" smtClean="0">
                <a:solidFill>
                  <a:schemeClr val="bg2"/>
                </a:solidFill>
              </a:rPr>
              <a:t>Eckehard</a:t>
            </a:r>
            <a:r>
              <a:rPr lang="en-US" sz="900" b="0" noProof="0" dirty="0" smtClean="0">
                <a:solidFill>
                  <a:schemeClr val="bg2"/>
                </a:solidFill>
              </a:rPr>
              <a:t> Steinbach</a:t>
            </a:r>
            <a:endParaRPr lang="en-US" sz="900" b="0" noProof="0" dirty="0">
              <a:solidFill>
                <a:schemeClr val="bg2"/>
              </a:solidFill>
            </a:endParaRPr>
          </a:p>
        </p:txBody>
      </p:sp>
      <p:pic>
        <p:nvPicPr>
          <p:cNvPr id="42" name="Picture 29" descr="U:\Logos und Grafiken\TUMLogo_oZ_Vollfl_blau_RGB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778" y="325438"/>
            <a:ext cx="604440" cy="319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3" r:id="rId2"/>
    <p:sldLayoutId id="2147483694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0">
          <a:solidFill>
            <a:schemeClr val="tx1"/>
          </a:solidFill>
          <a:latin typeface="+mj-lt"/>
          <a:ea typeface="ＭＳ Ｐゴシック" pitchFamily="-65" charset="-128"/>
          <a:cs typeface="ＭＳ Ｐゴシック" pitchFamily="18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  <a:ea typeface="ＭＳ Ｐゴシック" pitchFamily="-65" charset="-128"/>
          <a:cs typeface="ＭＳ Ｐゴシック" pitchFamily="18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  <a:ea typeface="ＭＳ Ｐゴシック" pitchFamily="-65" charset="-128"/>
          <a:cs typeface="ＭＳ Ｐゴシック" pitchFamily="18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  <a:ea typeface="ＭＳ Ｐゴシック" pitchFamily="-65" charset="-128"/>
          <a:cs typeface="ＭＳ Ｐゴシック" pitchFamily="18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  <a:ea typeface="ＭＳ Ｐゴシック" pitchFamily="-65" charset="-128"/>
          <a:cs typeface="ＭＳ Ｐゴシック" pitchFamily="18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</a:defRPr>
      </a:lvl9pPr>
    </p:titleStyle>
    <p:bodyStyle>
      <a:lvl1pPr marL="266700" indent="-2667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charset="2"/>
        <a:buChar char="§"/>
        <a:defRPr sz="2000" b="0">
          <a:solidFill>
            <a:schemeClr val="tx1"/>
          </a:solidFill>
          <a:latin typeface="+mn-lt"/>
          <a:ea typeface="ＭＳ Ｐゴシック" pitchFamily="-65" charset="-128"/>
          <a:cs typeface="ＭＳ Ｐゴシック" pitchFamily="18" charset="-128"/>
        </a:defRPr>
      </a:lvl1pPr>
      <a:lvl2pPr marL="534988" indent="-26828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Lucida Grande"/>
        <a:buChar char="□"/>
        <a:defRPr sz="2000" b="0">
          <a:solidFill>
            <a:schemeClr val="tx1"/>
          </a:solidFill>
          <a:latin typeface="+mn-lt"/>
          <a:ea typeface="ＭＳ Ｐゴシック" pitchFamily="-65" charset="-128"/>
        </a:defRPr>
      </a:lvl2pPr>
      <a:lvl3pPr marL="801688" indent="-2667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Lucida Grande"/>
        <a:buChar char="□"/>
        <a:defRPr sz="2000" b="0">
          <a:solidFill>
            <a:schemeClr val="tx1"/>
          </a:solidFill>
          <a:latin typeface="+mn-lt"/>
          <a:ea typeface="ＭＳ Ｐゴシック" pitchFamily="-65" charset="-128"/>
        </a:defRPr>
      </a:lvl3pPr>
      <a:lvl4pPr marL="1079500" indent="-2778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Lucida Grande"/>
        <a:buChar char="□"/>
        <a:defRPr sz="2000" b="0">
          <a:solidFill>
            <a:schemeClr val="tx1"/>
          </a:solidFill>
          <a:latin typeface="+mn-lt"/>
          <a:ea typeface="ＭＳ Ｐゴシック" pitchFamily="-65" charset="-128"/>
        </a:defRPr>
      </a:lvl4pPr>
      <a:lvl5pPr marL="1346200" indent="-2667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Lucida Grande"/>
        <a:buChar char="□"/>
        <a:defRPr sz="2000" b="0">
          <a:solidFill>
            <a:schemeClr val="tx1"/>
          </a:solidFill>
          <a:latin typeface="+mn-lt"/>
          <a:ea typeface="ＭＳ Ｐゴシック" pitchFamily="-65" charset="-128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FLEX-UF: Content-Adaptive Early Exit for DCVC-UF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Decoder compute saved at a measured cost in quality</a:t>
            </a:r>
          </a:p>
          <a:p>
            <a:r>
              <a:t>Chair of Media Technology · 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417320"/>
            <a:ext cx="8128000" cy="2306320"/>
          </a:xfrm>
        </p:spPr>
        <p:txBody>
          <a:bodyPr/>
          <a:lstStyle/>
          <a:p>
            <a:pPr/>
            <a:r>
              <a:rPr sz="1300" b="1">
                <a:solidFill>
                  <a:srgbClr val="0065BD"/>
                </a:solidFill>
              </a:rPr>
              <a:t>DCVC-UF's intra decoder: 453.5 GMAC per 1080p frame</a:t>
            </a:r>
          </a:p>
          <a:p>
            <a:pPr lvl="1"/>
            <a:r>
              <a:rPr sz="1100" b="0"/>
              <a:t>12 identical DepthConvBlocks = 89.4% of it</a:t>
            </a:r>
          </a:p>
          <a:p>
            <a:pPr lvl="1"/>
            <a:r>
              <a:rPr sz="1100" b="0"/>
              <a:t>every patch pays the same, however easy it is</a:t>
            </a:r>
          </a:p>
          <a:p>
            <a:pPr/>
            <a:r>
              <a:rPr sz="1300" b="1">
                <a:solidFill>
                  <a:srgbClr val="0065BD"/>
                </a:solidFill>
              </a:rPr>
              <a:t>Goal: spend less compute where the content allows</a:t>
            </a:r>
          </a:p>
          <a:p>
            <a:pPr lvl="1"/>
            <a:r>
              <a:rPr sz="1100" b="0"/>
              <a:t>target set with the group: 30–40% saved at ≤0.1 dB</a:t>
            </a:r>
          </a:p>
          <a:p>
            <a:pPr/>
            <a:r>
              <a:rPr sz="1300" b="1">
                <a:solidFill>
                  <a:srgbClr val="0065BD"/>
                </a:solidFill>
              </a:rPr>
              <a:t>Constraint that shapes everything: the reference is the RELEASED model</a:t>
            </a:r>
          </a:p>
          <a:p>
            <a:pPr lvl="1"/>
            <a:r>
              <a:rPr sz="1100" b="0"/>
              <a:t>encoder, hyperprior, entropy model frozen → identical bitstream</a:t>
            </a:r>
          </a:p>
          <a:p>
            <a:pPr lvl="1"/>
            <a:r>
              <a:rPr sz="1100" b="0"/>
              <a:t>so any measured difference is the decoder alone</a:t>
            </a:r>
          </a:p>
        </p:txBody>
      </p:sp>
      <p:pic>
        <p:nvPicPr>
          <p:cNvPr id="4" name="Picture 3" descr="nf_ma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69" y="3888231"/>
            <a:ext cx="7662261" cy="25582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Architecture: a ladder of exits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417320"/>
            <a:ext cx="8128000" cy="1036320"/>
          </a:xfrm>
        </p:spPr>
        <p:txBody>
          <a:bodyPr/>
          <a:lstStyle/>
          <a:p>
            <a:pPr/>
            <a:r>
              <a:rPr sz="1300" b="1">
                <a:solidFill>
                  <a:srgbClr val="0065BD"/>
                </a:solidFill>
              </a:rPr>
              <a:t>Shared stem runs full-frame → no seams; the rest runs per tile</a:t>
            </a:r>
          </a:p>
          <a:p>
            <a:pPr/>
            <a:r>
              <a:rPr sz="1300" b="0"/>
              <a:t>Each exit has a zero-initialised 1×1 adapter, then the shared head</a:t>
            </a:r>
          </a:p>
          <a:p>
            <a:pPr/>
            <a:r>
              <a:rPr sz="1300" b="0"/>
              <a:t>Pointwise on purpose: a 1×1 adds no receptive field, so no seam cost</a:t>
            </a:r>
          </a:p>
        </p:txBody>
      </p:sp>
      <p:pic>
        <p:nvPicPr>
          <p:cNvPr id="4" name="Picture 3" descr="nf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618232"/>
            <a:ext cx="8321040" cy="20127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start AT DCVC-UF, not near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417320"/>
            <a:ext cx="8128000" cy="2687320"/>
          </a:xfrm>
        </p:spPr>
        <p:txBody>
          <a:bodyPr/>
          <a:lstStyle/>
          <a:p>
            <a:pPr/>
            <a:r>
              <a:rPr sz="1200" b="1">
                <a:solidFill>
                  <a:srgbClr val="0065BD"/>
                </a:solidFill>
              </a:rPr>
              <a:t>The released weights are re-expressed in ladder form by a key remap</a:t>
            </a:r>
          </a:p>
          <a:p>
            <a:pPr lvl="1"/>
            <a:r>
              <a:rPr sz="1000" b="0"/>
              <a:t>dec_1.0→upsample, dec_1.n→groups.g.i, dec_2→head</a:t>
            </a:r>
          </a:p>
          <a:p>
            <a:pPr lvl="1"/>
            <a:r>
              <a:rPr sz="1000" b="0"/>
              <a:t>the remap is a bijection over 143 tensors (asserted in tests)</a:t>
            </a:r>
          </a:p>
          <a:p>
            <a:pPr/>
            <a:r>
              <a:rPr sz="1200" b="0"/>
              <a:t>Adapters and seam repair are zero-init, i.e. the identity</a:t>
            </a:r>
          </a:p>
          <a:p>
            <a:pPr/>
            <a:r>
              <a:rPr sz="1200" b="1">
                <a:solidFill>
                  <a:srgbClr val="0065BD"/>
                </a:solidFill>
              </a:rPr>
              <a:t>So at step 0, with no training at all:</a:t>
            </a:r>
          </a:p>
          <a:p>
            <a:pPr lvl="1"/>
            <a:r>
              <a:rPr sz="1000" b="0"/>
              <a:t>released DCVC-UF vs our deepest exit → max|diff| = 0.0</a:t>
            </a:r>
          </a:p>
          <a:p>
            <a:pPr/>
            <a:r>
              <a:rPr sz="1200" b="1">
                <a:solidFill>
                  <a:srgbClr val="0065BD"/>
                </a:solidFill>
              </a:rPr>
              <a:t>Training does not have to reach DCVC-UF. It has to (a) lift the shallow exits and (b) not damage the deepest one.</a:t>
            </a:r>
          </a:p>
          <a:p>
            <a:pPr/>
            <a:r>
              <a:rPr sz="1200" b="0"/>
              <a:t>From-scratch runs were abandoned for exactly this: after 6 epochs their anchor sat 1.49 dB below the release and was not closing.</a:t>
            </a:r>
          </a:p>
        </p:txBody>
      </p:sp>
      <p:pic>
        <p:nvPicPr>
          <p:cNvPr id="4" name="Picture 3" descr="nf_warm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461" y="4269232"/>
            <a:ext cx="5841077" cy="21772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Training: the recipe, checked not claimed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417320"/>
            <a:ext cx="8128000" cy="2788920"/>
          </a:xfrm>
        </p:spPr>
        <p:txBody>
          <a:bodyPr/>
          <a:lstStyle/>
          <a:p>
            <a:pPr/>
            <a:r>
              <a:rPr sz="1100" b="1">
                <a:solidFill>
                  <a:srgbClr val="0065BD"/>
                </a:solidFill>
              </a:rPr>
              <a:t>scripts/verify_recipe.py compares each item against ~/DCVC/train_image.py and exits non-zero on a mismatch</a:t>
            </a:r>
          </a:p>
          <a:p>
            <a:pPr lvl="1"/>
            <a:r>
              <a:rPr sz="900" b="0"/>
              <a:t>8 schedule rows character for character · 106 entries</a:t>
            </a:r>
          </a:p>
          <a:p>
            <a:pPr lvl="1"/>
            <a:r>
              <a:rPr sz="900" b="0"/>
              <a:t>AdamW 1e-4 · clip_grad_norm 0.1 · non-finite batch skipped</a:t>
            </a:r>
          </a:p>
          <a:p>
            <a:pPr lvl="1"/>
            <a:r>
              <a:rPr sz="900" b="0"/>
              <a:t>ImageFolder + get_training_lambdas · 64 QP levels</a:t>
            </a:r>
          </a:p>
          <a:p>
            <a:pPr lvl="1"/>
            <a:r>
              <a:rPr sz="900" b="0"/>
              <a:t>encoder identical over 74 tensors · 255 shared tensors, no shape change</a:t>
            </a:r>
          </a:p>
          <a:p>
            <a:pPr/>
            <a:r>
              <a:rPr sz="1100" b="1">
                <a:solidFill>
                  <a:srgbClr val="0065BD"/>
                </a:solidFill>
              </a:rPr>
              <a:t>Deliberate additions, listed rather than hidden:</a:t>
            </a:r>
          </a:p>
          <a:p>
            <a:pPr lvl="1"/>
            <a:r>
              <a:rPr sz="900" b="0"/>
              <a:t>--epoch_offset (read the schedule where a warm start actually is)</a:t>
            </a:r>
          </a:p>
          <a:p>
            <a:pPr lvl="1"/>
            <a:r>
              <a:rPr sz="900" b="0"/>
              <a:t>--anchor_weight, --new_lr_scale, --freeze_encoder</a:t>
            </a:r>
          </a:p>
          <a:p>
            <a:pPr/>
            <a:r>
              <a:rPr sz="1100" b="1">
                <a:solidFill>
                  <a:srgbClr val="0065BD"/>
                </a:solidFill>
              </a:rPr>
              <a:t>VERBATIM run: their final phase (epochs 90–104, 512px, lr 2e-4→1e-6) with NONE of those additions, effective batch 16 by accumulation</a:t>
            </a:r>
          </a:p>
        </p:txBody>
      </p:sp>
      <p:pic>
        <p:nvPicPr>
          <p:cNvPr id="4" name="Picture 3" descr="nf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581" y="4370831"/>
            <a:ext cx="7100837" cy="20756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anchor, and a ×4 error caught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417320"/>
            <a:ext cx="8128000" cy="1798320"/>
          </a:xfrm>
        </p:spPr>
        <p:txBody>
          <a:bodyPr/>
          <a:lstStyle/>
          <a:p>
            <a:pPr/>
            <a:r>
              <a:rPr sz="1300" b="1">
                <a:solidFill>
                  <a:srgbClr val="0065BD"/>
                </a:solidFill>
              </a:rPr>
              <a:t>Reading the schedule from epoch 0 applied the from-scratch lr to a converged model</a:t>
            </a:r>
          </a:p>
          <a:p>
            <a:pPr lvl="1"/>
            <a:r>
              <a:rPr sz="1100" b="0"/>
              <a:t>deepest exit fell 0.153 / 0.201 / 0.263 dB in ONE epoch (qp0/32/63)</a:t>
            </a:r>
          </a:p>
          <a:p>
            <a:pPr lvl="1"/>
            <a:r>
              <a:rPr sz="1100" b="0"/>
              <a:t>fixed to 0.025 / 0.051 / 0.074 by --epoch_offset 75 + --anchor_weight</a:t>
            </a:r>
          </a:p>
          <a:p>
            <a:pPr/>
            <a:r>
              <a:rPr sz="1300" b="1">
                <a:solidFill>
                  <a:srgbClr val="0065BD"/>
                </a:solidFill>
              </a:rPr>
              <a:t>Freezing the backbone gives exactly 0.000 — but collapses the ceiling from 27.3% to 11.5%, so training the trunk is mandatory</a:t>
            </a:r>
          </a:p>
        </p:txBody>
      </p:sp>
      <p:pic>
        <p:nvPicPr>
          <p:cNvPr id="4" name="Picture 3" descr="nf_anch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0" y="3380232"/>
            <a:ext cx="8214620" cy="30662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an exit costs, on one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417320"/>
            <a:ext cx="8128000" cy="1036320"/>
          </a:xfrm>
        </p:spPr>
        <p:txBody>
          <a:bodyPr/>
          <a:lstStyle/>
          <a:p>
            <a:pPr/>
            <a:r>
              <a:rPr sz="1300" b="1">
                <a:solidFill>
                  <a:srgbClr val="0065BD"/>
                </a:solidFill>
              </a:rPr>
              <a:t>Bosphorus 1080p, qp32, identical bitstream at every exit</a:t>
            </a:r>
          </a:p>
          <a:p>
            <a:pPr/>
            <a:r>
              <a:rPr sz="1300" b="0"/>
              <a:t>Error maps ×25: the damage is structured, concentrated on detail and on tile borders — which is what the seam work targets</a:t>
            </a:r>
          </a:p>
        </p:txBody>
      </p:sp>
      <p:pic>
        <p:nvPicPr>
          <p:cNvPr id="4" name="Picture 3" descr="nf_ex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618232"/>
            <a:ext cx="8321040" cy="36717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seam, and how it was removed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417320"/>
            <a:ext cx="8128000" cy="2560320"/>
          </a:xfrm>
        </p:spPr>
        <p:txBody>
          <a:bodyPr/>
          <a:lstStyle/>
          <a:p>
            <a:pPr/>
            <a:r>
              <a:rPr sz="1100" b="1">
                <a:solidFill>
                  <a:srgbClr val="0065BD"/>
                </a:solidFill>
              </a:rPr>
              <a:t>A tile decoded alone meets its border with invented values</a:t>
            </a:r>
          </a:p>
          <a:p>
            <a:pPr/>
            <a:r>
              <a:rPr sz="1100" b="1">
                <a:solidFill>
                  <a:srgbClr val="0065BD"/>
                </a:solidFill>
              </a:rPr>
              <a:t>Pure seam penalty at qp63, CTC, no early exit taken:</a:t>
            </a:r>
          </a:p>
          <a:p>
            <a:pPr lvl="1"/>
            <a:r>
              <a:rPr sz="900" b="0"/>
              <a:t>zeros 1.167 dB · replicate 0.213 · arls 0.179 · 256px halves each</a:t>
            </a:r>
          </a:p>
          <a:p>
            <a:pPr/>
            <a:r>
              <a:rPr sz="1100" b="1">
                <a:solidFill>
                  <a:srgbClr val="0065BD"/>
                </a:solidFill>
              </a:rPr>
              <a:t>arls (arXiv:2502.12300) was implemented, measured, and REJECTED</a:t>
            </a:r>
          </a:p>
          <a:p>
            <a:pPr lvl="1"/>
            <a:r>
              <a:rPr sz="900" b="0"/>
              <a:t>+0.034 dB for +10.7% of decode wall-clock — a bad trade</a:t>
            </a:r>
          </a:p>
          <a:p>
            <a:pPr/>
            <a:r>
              <a:rPr sz="1100" b="1">
                <a:solidFill>
                  <a:srgbClr val="0065BD"/>
                </a:solidFill>
              </a:rPr>
              <a:t>Canvas coupling: only the 3×3 depthwise has spatial extent — 0.334% of a block — so only it needs the neighbour</a:t>
            </a:r>
          </a:p>
          <a:p>
            <a:pPr lvl="1"/>
            <a:r>
              <a:rPr sz="900" b="0"/>
              <a:t>cost +0.03% of the decode; earlier halo work paid 26% by haloing the whole block, which was the wrong thing to halo</a:t>
            </a:r>
          </a:p>
          <a:p>
            <a:pPr lvl="1"/>
            <a:r>
              <a:rPr sz="900" b="0"/>
              <a:t>at uniform depth: full-frame vs tiled → max|diff| = 0.0</a:t>
            </a:r>
          </a:p>
          <a:p>
            <a:pPr/>
            <a:r>
              <a:rPr sz="1100" b="1">
                <a:solidFill>
                  <a:srgbClr val="0065BD"/>
                </a:solidFill>
              </a:rPr>
              <a:t>The seam does not shrink. It stops existing.</a:t>
            </a:r>
          </a:p>
        </p:txBody>
      </p:sp>
      <p:pic>
        <p:nvPicPr>
          <p:cNvPr id="4" name="Picture 3" descr="nf_s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210" y="4142231"/>
            <a:ext cx="5783580" cy="23042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Cost, checked in the right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417320"/>
            <a:ext cx="8128000" cy="3169919"/>
          </a:xfrm>
        </p:spPr>
        <p:txBody>
          <a:bodyPr/>
          <a:lstStyle/>
          <a:p>
            <a:pPr/>
            <a:r>
              <a:rPr sz="1200" b="1">
                <a:solidFill>
                  <a:srgbClr val="0065BD"/>
                </a:solidFill>
              </a:rPr>
              <a:t>The headline is a percentage; it comes from a MAC model</a:t>
            </a:r>
          </a:p>
          <a:p>
            <a:pPr/>
            <a:r>
              <a:rPr sz="1200" b="1">
                <a:solidFill>
                  <a:srgbClr val="0065BD"/>
                </a:solidFill>
              </a:rPr>
              <a:t>MACs are right for a paper and wrong for a promise, so wall-clock was measured on a 1080p decode — on the 128px ladder, which is where the timing was taken:</a:t>
            </a:r>
          </a:p>
          <a:p>
            <a:pPr lvl="1"/>
            <a:r>
              <a:rPr sz="1000" b="0"/>
              <a:t>exit 2: 43.4% (MAC) vs 43.6% (clock)</a:t>
            </a:r>
          </a:p>
          <a:p>
            <a:pPr lvl="1"/>
            <a:r>
              <a:rPr sz="1000" b="0"/>
              <a:t>exit 3: 28.6% vs 28.8% · exit 4: 13.8% vs 14.9%</a:t>
            </a:r>
          </a:p>
          <a:p>
            <a:pPr lvl="1"/>
            <a:r>
              <a:rPr sz="1000" b="0"/>
              <a:t>BEST uses 256px tiles, where the MAC ceiling is 42.5% rather than 43.4% — the grid seam repair scales with the tile, so the exit costs shift slightly. The agreement being checked here is the model's, not this checkpoint's.</a:t>
            </a:r>
          </a:p>
          <a:p>
            <a:pPr/>
            <a:r>
              <a:rPr sz="1200" b="1">
                <a:solidFill>
                  <a:srgbClr val="0065BD"/>
                </a:solidFill>
              </a:rPr>
              <a:t>Agreement within ±1 point at every exit</a:t>
            </a:r>
          </a:p>
          <a:p>
            <a:pPr/>
            <a:r>
              <a:rPr sz="1200" b="0"/>
              <a:t>The same question caught arls: benefit in dB, bill in milliseconds</a:t>
            </a:r>
          </a:p>
          <a:p>
            <a:pPr/>
            <a:r>
              <a:rPr sz="1200" b="0"/>
              <a:t>And the cost model itself is checked against the executed decode (tests/test_cost_matches_reality.py)</a:t>
            </a:r>
          </a:p>
        </p:txBody>
      </p:sp>
      <p:pic>
        <p:nvPicPr>
          <p:cNvPr id="4" name="Picture 3" descr="nf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413" y="4751832"/>
            <a:ext cx="4383174" cy="16946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vs the released decoder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417320"/>
            <a:ext cx="8128000" cy="3068319"/>
          </a:xfrm>
        </p:spPr>
        <p:txBody>
          <a:bodyPr/>
          <a:lstStyle/>
          <a:p>
            <a:pPr/>
            <a:r>
              <a:rPr sz="1300" b="1">
                <a:solidFill>
                  <a:srgbClr val="0065BD"/>
                </a:solidFill>
              </a:rPr>
              <a:t>At 0.3 dB: ceiling 42% already at 0.20 dB (qp0) · 42% (qp32) · 36% (qp63)</a:t>
            </a:r>
          </a:p>
          <a:p>
            <a:pPr lvl="1"/>
            <a:r>
              <a:rPr sz="1100" b="0"/>
              <a:t>dB is the per-frame average test_video.py computes — the convention every published DCVC-UF number uses. Pooling all tiles into one MSE reads 0.023–0.033 dB lower on the same allocation and would flatter these</a:t>
            </a:r>
          </a:p>
          <a:p>
            <a:pPr/>
            <a:r>
              <a:rPr sz="1300" b="0"/>
              <a:t>At 0.1 dB: 35% · 28% · 22%</a:t>
            </a:r>
          </a:p>
          <a:p>
            <a:pPr/>
            <a:r>
              <a:rPr sz="1300" b="0"/>
              <a:t>The 30% target is cleared by qp 0/16 at 0.1 dB, and by qp 32/48/63 at 0.3 dB</a:t>
            </a:r>
          </a:p>
          <a:p>
            <a:pPr/>
            <a:r>
              <a:rPr sz="1300" b="0"/>
              <a:t>Saving falls with rate because early exit costs more there: the exit-2 penalty grows 3.3× from qp0 to qp63 as the latent carries more detail</a:t>
            </a:r>
          </a:p>
          <a:p>
            <a:pPr/>
            <a:r>
              <a:rPr sz="1300" b="1">
                <a:solidFill>
                  <a:srgbClr val="0065BD"/>
                </a:solidFill>
              </a:rPr>
              <a:t>Integrated over the curve, not read at one point:</a:t>
            </a:r>
          </a:p>
          <a:p>
            <a:pPr lvl="1"/>
            <a:r>
              <a:rPr sz="1100" b="0"/>
              <a:t>BD-saving 31.0% over dB in [0.066, 0.196] (qp 0: 38% · 16: 35% · 32: 31% · 48: 28% · 63: 24%); BD-quality 0.062 dB over saving in [10%, 30%]</a:t>
            </a:r>
          </a:p>
        </p:txBody>
      </p:sp>
      <p:pic>
        <p:nvPicPr>
          <p:cNvPr id="4" name="Picture 3" descr="nf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590" y="4650231"/>
            <a:ext cx="5194820" cy="17962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Router: predicting failed, signalling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417320"/>
            <a:ext cx="8128000" cy="2560320"/>
          </a:xfrm>
        </p:spPr>
        <p:txBody>
          <a:bodyPr/>
          <a:lstStyle/>
          <a:p>
            <a:pPr/>
            <a:r>
              <a:rPr sz="1100" b="1">
                <a:solidFill>
                  <a:srgbClr val="0065BD"/>
                </a:solidFill>
              </a:rPr>
              <a:t>A learned router could not reach the oracle, and 12k steps showed why</a:t>
            </a:r>
          </a:p>
          <a:p>
            <a:pPr lvl="1"/>
            <a:r>
              <a:rPr sz="900" b="0"/>
              <a:t>CE 0.5→0.09 while qp0 agreement moved 0.743→0.741, regret unchanged</a:t>
            </a:r>
          </a:p>
          <a:p>
            <a:pPr lvl="1"/>
            <a:r>
              <a:rPr sz="900" b="0"/>
              <a:t>fitting the training data 4× better and behaving identically on test is missing INFORMATION, not missing capacity</a:t>
            </a:r>
          </a:p>
          <a:p>
            <a:pPr/>
            <a:r>
              <a:rPr sz="1100" b="1">
                <a:solidFill>
                  <a:srgbClr val="0065BD"/>
                </a:solidFill>
              </a:rPr>
              <a:t>Structural: the oracle uses error against the SOURCE; the decoder never sees the source</a:t>
            </a:r>
          </a:p>
          <a:p>
            <a:pPr/>
            <a:r>
              <a:rPr sz="1100" b="1">
                <a:solidFill>
                  <a:srgbClr val="0065BD"/>
                </a:solidFill>
              </a:rPr>
              <a:t>But the encoder does — and in video coding mode decisions are signalled, not inferred (HEVC/VVC send partitioning and prediction mode)</a:t>
            </a:r>
          </a:p>
          <a:p>
            <a:pPr lvl="1"/>
            <a:r>
              <a:rPr sz="900" b="0"/>
              <a:t>exit map costs 1.3e-4 bpp entropy-coded — 4 orders below the frame</a:t>
            </a:r>
          </a:p>
          <a:p>
            <a:pPr lvl="1"/>
            <a:r>
              <a:rPr sz="900" b="0"/>
              <a:t>measured with the map's cost INSIDE the bitrate: 34.7 / 31.4 / 27.4 / 24.3 / 21.5% at qp0…63, all under 0.10 dB  (baseline 28.3 / 24.8 / 18.7 / 14.3 / 10.8) (40 CTC sequences)</a:t>
            </a:r>
          </a:p>
          <a:p>
            <a:pPr/>
            <a:r>
              <a:rPr sz="1100" b="1">
                <a:solidFill>
                  <a:srgbClr val="0065BD"/>
                </a:solidFill>
              </a:rPr>
              <a:t>Agreement with the oracle becomes 100% by construction</a:t>
            </a:r>
          </a:p>
        </p:txBody>
      </p:sp>
      <p:pic>
        <p:nvPicPr>
          <p:cNvPr id="4" name="Picture 3" descr="nf_rou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447" y="4142231"/>
            <a:ext cx="4725106" cy="23042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Theory, and 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417320"/>
            <a:ext cx="8128000" cy="3246120"/>
          </a:xfrm>
        </p:spPr>
        <p:txBody>
          <a:bodyPr/>
          <a:lstStyle/>
          <a:p>
            <a:pPr/>
            <a:r>
              <a:rPr sz="1100" b="1">
                <a:solidFill>
                  <a:srgbClr val="0065BD"/>
                </a:solidFill>
              </a:rPr>
              <a:t>Cost is additive over tiles and MSE is a mean over tiles → both affine in the assignment</a:t>
            </a:r>
          </a:p>
          <a:p>
            <a:pPr lvl="1"/>
            <a:r>
              <a:rPr sz="900" b="0"/>
              <a:t>fixed proportions reach the convex hull of the K exit points; per-tile assignment reaches the Minkowski average of the N tile hulls</a:t>
            </a:r>
          </a:p>
          <a:p>
            <a:pPr lvl="1"/>
            <a:r>
              <a:rPr sz="900" b="0"/>
              <a:t>their gap is min-of-average − average-of-min ≥ 0, zero iff every tile prefers the same exit — this IS the value of adaptivity</a:t>
            </a:r>
          </a:p>
          <a:p>
            <a:pPr/>
            <a:r>
              <a:rPr sz="1100" b="1">
                <a:solidFill>
                  <a:srgbClr val="0065BD"/>
                </a:solidFill>
              </a:rPr>
              <a:t>Measured: Δ/J rises 0.39% → 2.09% with rate</a:t>
            </a:r>
          </a:p>
          <a:p>
            <a:pPr/>
            <a:r>
              <a:rPr sz="1100" b="1">
                <a:solidFill>
                  <a:srgbClr val="0065BD"/>
                </a:solidFill>
              </a:rPr>
              <a:t>Same mechanism one level up: best/worst CTC sequence is 14.5× at qp63 vs 2.2× at qp0 — the mean is not what a clip gets</a:t>
            </a:r>
          </a:p>
          <a:p>
            <a:pPr/>
            <a:r>
              <a:rPr sz="1100" b="1">
                <a:solidFill>
                  <a:srgbClr val="0065BD"/>
                </a:solidFill>
              </a:rPr>
              <a:t>What is left, in the target's own units:</a:t>
            </a:r>
          </a:p>
          <a:p>
            <a:pPr lvl="1"/>
            <a:r>
              <a:rPr sz="900" b="0"/>
              <a:t>30% costs 0.114 dB at qp0 (+0.014 over budget, 104% of it the anchor's floor) and 0.334 dB at qp63 (3.3× the budget, 27% floor) — low rate is a drift problem, high rate an exit-quality one</a:t>
            </a:r>
          </a:p>
          <a:p>
            <a:pPr/>
            <a:r>
              <a:rPr sz="1100" b="1">
                <a:solidFill>
                  <a:srgbClr val="0065BD"/>
                </a:solidFill>
              </a:rPr>
              <a:t>Open: The 30% target is cleared by qp 0/16 at 0.1 dB, and by qp 32/48/63 at 0.3 dB; HEVC B/C/D behind JVET credentials, reported as NOT MEASURED; 6 runs training on 6 GPUs</a:t>
            </a:r>
          </a:p>
        </p:txBody>
      </p:sp>
      <p:pic>
        <p:nvPicPr>
          <p:cNvPr id="4" name="Picture 3" descr="nf_heterogene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280" y="4828031"/>
            <a:ext cx="5965440" cy="16184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UM_Vorlage_hellblau">
  <a:themeElements>
    <a:clrScheme name="Leere Präsentation 1">
      <a:dk1>
        <a:srgbClr val="000000"/>
      </a:dk1>
      <a:lt1>
        <a:srgbClr val="FFFFFF"/>
      </a:lt1>
      <a:dk2>
        <a:srgbClr val="0065BD"/>
      </a:dk2>
      <a:lt2>
        <a:srgbClr val="005293"/>
      </a:lt2>
      <a:accent1>
        <a:srgbClr val="A2AD00"/>
      </a:accent1>
      <a:accent2>
        <a:srgbClr val="E37222"/>
      </a:accent2>
      <a:accent3>
        <a:srgbClr val="AAB8DB"/>
      </a:accent3>
      <a:accent4>
        <a:srgbClr val="DADADA"/>
      </a:accent4>
      <a:accent5>
        <a:srgbClr val="CED3AA"/>
      </a:accent5>
      <a:accent6>
        <a:srgbClr val="CE671E"/>
      </a:accent6>
      <a:hlink>
        <a:srgbClr val="DAD7CB"/>
      </a:hlink>
      <a:folHlink>
        <a:srgbClr val="9C9D9F"/>
      </a:folHlink>
    </a:clrScheme>
    <a:fontScheme name="Leere Prä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Leere Präsentation 1">
        <a:dk1>
          <a:srgbClr val="000000"/>
        </a:dk1>
        <a:lt1>
          <a:srgbClr val="FFFFFF"/>
        </a:lt1>
        <a:dk2>
          <a:srgbClr val="0065BD"/>
        </a:dk2>
        <a:lt2>
          <a:srgbClr val="005293"/>
        </a:lt2>
        <a:accent1>
          <a:srgbClr val="A2AD00"/>
        </a:accent1>
        <a:accent2>
          <a:srgbClr val="E37222"/>
        </a:accent2>
        <a:accent3>
          <a:srgbClr val="AAB8DB"/>
        </a:accent3>
        <a:accent4>
          <a:srgbClr val="DADADA"/>
        </a:accent4>
        <a:accent5>
          <a:srgbClr val="CED3AA"/>
        </a:accent5>
        <a:accent6>
          <a:srgbClr val="CE671E"/>
        </a:accent6>
        <a:hlink>
          <a:srgbClr val="DAD7CB"/>
        </a:hlink>
        <a:folHlink>
          <a:srgbClr val="9C9D9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Bildschirmpräsentation 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3" baseType="lpstr">
      <vt:lpstr>TUM_Vorlage_hellblau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support</dc:creator>
  <cp:lastModifiedBy>Schuwerk, Clemens</cp:lastModifiedBy>
  <cp:revision>12</cp:revision>
  <dcterms:created xsi:type="dcterms:W3CDTF">2009-06-05T15:14:26Z</dcterms:created>
  <dcterms:modified xsi:type="dcterms:W3CDTF">2014-10-01T15:01:51Z</dcterms:modified>
</cp:coreProperties>
</file>