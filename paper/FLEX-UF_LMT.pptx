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4"/>
  </p:notesMasterIdLst>
  <p:handoutMasterIdLst>
    <p:handoutMasterId r:id="rId5"/>
  </p:handoutMasterIdLst>
  <p:sldIdLst>
    <p:sldId id="256" r:id="rId3"/>
    <p:sldId id="257" r:id="rId2"/>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de-DE"/>
    </a:defPPr>
    <a:lvl1pPr algn="r" rtl="0" eaLnBrk="0" fontAlgn="base" hangingPunct="0">
      <a:spcBef>
        <a:spcPct val="0"/>
      </a:spcBef>
      <a:spcAft>
        <a:spcPct val="0"/>
      </a:spcAft>
      <a:defRPr sz="2000" kern="1200">
        <a:solidFill>
          <a:schemeClr val="tx1"/>
        </a:solidFill>
        <a:latin typeface="Arial" charset="0"/>
        <a:ea typeface="ＭＳ Ｐゴシック" charset="0"/>
        <a:cs typeface="ＭＳ Ｐゴシック" charset="0"/>
      </a:defRPr>
    </a:lvl1pPr>
    <a:lvl2pPr marL="457200" algn="r" rtl="0" eaLnBrk="0" fontAlgn="base" hangingPunct="0">
      <a:spcBef>
        <a:spcPct val="0"/>
      </a:spcBef>
      <a:spcAft>
        <a:spcPct val="0"/>
      </a:spcAft>
      <a:defRPr sz="2000" kern="1200">
        <a:solidFill>
          <a:schemeClr val="tx1"/>
        </a:solidFill>
        <a:latin typeface="Arial" charset="0"/>
        <a:ea typeface="ＭＳ Ｐゴシック" charset="0"/>
        <a:cs typeface="ＭＳ Ｐゴシック" charset="0"/>
      </a:defRPr>
    </a:lvl2pPr>
    <a:lvl3pPr marL="914400" algn="r" rtl="0" eaLnBrk="0" fontAlgn="base" hangingPunct="0">
      <a:spcBef>
        <a:spcPct val="0"/>
      </a:spcBef>
      <a:spcAft>
        <a:spcPct val="0"/>
      </a:spcAft>
      <a:defRPr sz="2000" kern="1200">
        <a:solidFill>
          <a:schemeClr val="tx1"/>
        </a:solidFill>
        <a:latin typeface="Arial" charset="0"/>
        <a:ea typeface="ＭＳ Ｐゴシック" charset="0"/>
        <a:cs typeface="ＭＳ Ｐゴシック" charset="0"/>
      </a:defRPr>
    </a:lvl3pPr>
    <a:lvl4pPr marL="1371600" algn="r" rtl="0" eaLnBrk="0" fontAlgn="base" hangingPunct="0">
      <a:spcBef>
        <a:spcPct val="0"/>
      </a:spcBef>
      <a:spcAft>
        <a:spcPct val="0"/>
      </a:spcAft>
      <a:defRPr sz="2000" kern="1200">
        <a:solidFill>
          <a:schemeClr val="tx1"/>
        </a:solidFill>
        <a:latin typeface="Arial" charset="0"/>
        <a:ea typeface="ＭＳ Ｐゴシック" charset="0"/>
        <a:cs typeface="ＭＳ Ｐゴシック" charset="0"/>
      </a:defRPr>
    </a:lvl4pPr>
    <a:lvl5pPr marL="1828800" algn="r" rtl="0" eaLnBrk="0" fontAlgn="base" hangingPunct="0">
      <a:spcBef>
        <a:spcPct val="0"/>
      </a:spcBef>
      <a:spcAft>
        <a:spcPct val="0"/>
      </a:spcAft>
      <a:defRPr sz="2000" kern="1200">
        <a:solidFill>
          <a:schemeClr val="tx1"/>
        </a:solidFill>
        <a:latin typeface="Arial" charset="0"/>
        <a:ea typeface="ＭＳ Ｐゴシック" charset="0"/>
        <a:cs typeface="ＭＳ Ｐゴシック" charset="0"/>
      </a:defRPr>
    </a:lvl5pPr>
    <a:lvl6pPr marL="2286000" algn="l" defTabSz="457200" rtl="0" eaLnBrk="1" latinLnBrk="0" hangingPunct="1">
      <a:defRPr sz="2000" kern="1200">
        <a:solidFill>
          <a:schemeClr val="tx1"/>
        </a:solidFill>
        <a:latin typeface="Arial" charset="0"/>
        <a:ea typeface="ＭＳ Ｐゴシック" charset="0"/>
        <a:cs typeface="ＭＳ Ｐゴシック" charset="0"/>
      </a:defRPr>
    </a:lvl6pPr>
    <a:lvl7pPr marL="2743200" algn="l" defTabSz="457200" rtl="0" eaLnBrk="1" latinLnBrk="0" hangingPunct="1">
      <a:defRPr sz="2000" kern="1200">
        <a:solidFill>
          <a:schemeClr val="tx1"/>
        </a:solidFill>
        <a:latin typeface="Arial" charset="0"/>
        <a:ea typeface="ＭＳ Ｐゴシック" charset="0"/>
        <a:cs typeface="ＭＳ Ｐゴシック" charset="0"/>
      </a:defRPr>
    </a:lvl7pPr>
    <a:lvl8pPr marL="3200400" algn="l" defTabSz="457200" rtl="0" eaLnBrk="1" latinLnBrk="0" hangingPunct="1">
      <a:defRPr sz="2000" kern="1200">
        <a:solidFill>
          <a:schemeClr val="tx1"/>
        </a:solidFill>
        <a:latin typeface="Arial" charset="0"/>
        <a:ea typeface="ＭＳ Ｐゴシック" charset="0"/>
        <a:cs typeface="ＭＳ Ｐゴシック" charset="0"/>
      </a:defRPr>
    </a:lvl8pPr>
    <a:lvl9pPr marL="3657600" algn="l" defTabSz="457200" rtl="0" eaLnBrk="1" latinLnBrk="0" hangingPunct="1">
      <a:defRPr sz="2000" kern="1200">
        <a:solidFill>
          <a:schemeClr val="tx1"/>
        </a:solidFill>
        <a:latin typeface="Arial" charset="0"/>
        <a:ea typeface="ＭＳ Ｐゴシック" charset="0"/>
        <a:cs typeface="ＭＳ Ｐゴシック" charset="0"/>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5CA82"/>
    <a:srgbClr val="91AC6B"/>
    <a:srgbClr val="41BEFF"/>
    <a:srgbClr val="0099FF"/>
    <a:srgbClr val="CA213F"/>
    <a:srgbClr val="E53418"/>
    <a:srgbClr val="FF8000"/>
    <a:srgbClr val="0065BD"/>
  </p:clrMru>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howGuides="1">
      <p:cViewPr>
        <p:scale>
          <a:sx n="134" d="100"/>
          <a:sy n="134" d="100"/>
        </p:scale>
        <p:origin x="-1002" y="-72"/>
      </p:cViewPr>
      <p:guideLst>
        <p:guide orient="horz" pos="1066"/>
        <p:guide pos="2880"/>
      </p:guideLst>
    </p:cSldViewPr>
  </p:slideViewPr>
  <p:notesTextViewPr>
    <p:cViewPr>
      <p:scale>
        <a:sx n="100" d="100"/>
        <a:sy n="100" d="100"/>
      </p:scale>
      <p:origin x="0" y="0"/>
    </p:cViewPr>
  </p:notesTextViewPr>
  <p:sorterViewPr>
    <p:cViewPr>
      <p:scale>
        <a:sx n="100" d="100"/>
        <a:sy n="100" d="100"/>
      </p:scale>
      <p:origin x="0" y="0"/>
    </p:cViewPr>
  </p:sorterViewPr>
  <p:notesViewPr>
    <p:cSldViewPr snapToGrid="0" showGuides="1">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338" name="Rectangle 2"/>
          <p:cNvSpPr>
            <a:spLocks noGrp="1" noChangeArrowheads="1"/>
          </p:cNvSpPr>
          <p:nvPr>
            <p:ph type="hdr" sz="quarter"/>
          </p:nvPr>
        </p:nvSpPr>
        <p:spPr bwMode="auto">
          <a:xfrm>
            <a:off x="508000" y="169863"/>
            <a:ext cx="33782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l">
              <a:defRPr sz="1200"/>
            </a:lvl1pPr>
          </a:lstStyle>
          <a:p>
            <a:endParaRPr lang="en-US"/>
          </a:p>
        </p:txBody>
      </p:sp>
      <p:sp>
        <p:nvSpPr>
          <p:cNvPr id="14339" name="Rectangle 3"/>
          <p:cNvSpPr>
            <a:spLocks noGrp="1" noChangeArrowheads="1"/>
          </p:cNvSpPr>
          <p:nvPr>
            <p:ph type="dt" sz="quarter" idx="1"/>
          </p:nvPr>
        </p:nvSpPr>
        <p:spPr bwMode="auto">
          <a:xfrm>
            <a:off x="4191000" y="169863"/>
            <a:ext cx="21336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vl1pPr>
          </a:lstStyle>
          <a:p>
            <a:endParaRPr lang="en-US"/>
          </a:p>
        </p:txBody>
      </p:sp>
      <p:sp>
        <p:nvSpPr>
          <p:cNvPr id="14340" name="Rectangle 4"/>
          <p:cNvSpPr>
            <a:spLocks noGrp="1" noChangeArrowheads="1"/>
          </p:cNvSpPr>
          <p:nvPr>
            <p:ph type="ftr" sz="quarter" idx="2"/>
          </p:nvPr>
        </p:nvSpPr>
        <p:spPr bwMode="auto">
          <a:xfrm>
            <a:off x="0" y="8686800"/>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l">
              <a:defRPr sz="1200"/>
            </a:lvl1pPr>
          </a:lstStyle>
          <a:p>
            <a:endParaRPr lang="en-US"/>
          </a:p>
        </p:txBody>
      </p:sp>
      <p:sp>
        <p:nvSpPr>
          <p:cNvPr id="14341" name="Rectangle 5"/>
          <p:cNvSpPr>
            <a:spLocks noGrp="1" noChangeArrowheads="1"/>
          </p:cNvSpPr>
          <p:nvPr>
            <p:ph type="sldNum" sz="quarter" idx="3"/>
          </p:nvPr>
        </p:nvSpPr>
        <p:spPr bwMode="auto">
          <a:xfrm>
            <a:off x="3886200" y="8686800"/>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vl1pPr>
          </a:lstStyle>
          <a:p>
            <a:fld id="{B8682F5A-9025-5143-B95A-464527BD45C7}" type="slidenum">
              <a:rPr lang="de-DE"/>
              <a:pPr/>
              <a:t>‹Nr.›</a:t>
            </a:fld>
            <a:endParaRPr lang="de-DE"/>
          </a:p>
        </p:txBody>
      </p:sp>
    </p:spTree>
    <p:extLst>
      <p:ext uri="{BB962C8B-B14F-4D97-AF65-F5344CB8AC3E}">
        <p14:creationId xmlns:p14="http://schemas.microsoft.com/office/powerpoint/2010/main" val="4400069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l">
              <a:defRPr sz="1200"/>
            </a:lvl1pPr>
          </a:lstStyle>
          <a:p>
            <a:endParaRPr lang="en-US"/>
          </a:p>
        </p:txBody>
      </p:sp>
      <p:sp>
        <p:nvSpPr>
          <p:cNvPr id="4099" name="Rectangle 3"/>
          <p:cNvSpPr>
            <a:spLocks noGrp="1" noChangeArrowheads="1"/>
          </p:cNvSpPr>
          <p:nvPr>
            <p:ph type="dt" idx="1"/>
          </p:nvPr>
        </p:nvSpPr>
        <p:spPr bwMode="auto">
          <a:xfrm>
            <a:off x="388620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vl1pPr>
          </a:lstStyle>
          <a:p>
            <a:endParaRPr lang="en-US"/>
          </a:p>
        </p:txBody>
      </p:sp>
      <p:sp>
        <p:nvSpPr>
          <p:cNvPr id="6148"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4101" name="Rectangle 5"/>
          <p:cNvSpPr>
            <a:spLocks noGrp="1" noChangeArrowheads="1"/>
          </p:cNvSpPr>
          <p:nvPr>
            <p:ph type="body" sz="quarter" idx="3"/>
          </p:nvPr>
        </p:nvSpPr>
        <p:spPr bwMode="auto">
          <a:xfrm>
            <a:off x="914400" y="4343400"/>
            <a:ext cx="50292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102" name="Rectangle 6"/>
          <p:cNvSpPr>
            <a:spLocks noGrp="1" noChangeArrowheads="1"/>
          </p:cNvSpPr>
          <p:nvPr>
            <p:ph type="ftr" sz="quarter" idx="4"/>
          </p:nvPr>
        </p:nvSpPr>
        <p:spPr bwMode="auto">
          <a:xfrm>
            <a:off x="0" y="8686800"/>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l">
              <a:defRPr sz="1200"/>
            </a:lvl1pPr>
          </a:lstStyle>
          <a:p>
            <a:endParaRPr lang="en-US"/>
          </a:p>
        </p:txBody>
      </p:sp>
      <p:sp>
        <p:nvSpPr>
          <p:cNvPr id="4103" name="Rectangle 7"/>
          <p:cNvSpPr>
            <a:spLocks noGrp="1" noChangeArrowheads="1"/>
          </p:cNvSpPr>
          <p:nvPr>
            <p:ph type="sldNum" sz="quarter" idx="5"/>
          </p:nvPr>
        </p:nvSpPr>
        <p:spPr bwMode="auto">
          <a:xfrm>
            <a:off x="3886200" y="8686800"/>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vl1pPr>
          </a:lstStyle>
          <a:p>
            <a:fld id="{224B126A-EBFB-3945-B395-849A2AAB6EE9}" type="slidenum">
              <a:rPr lang="de-DE"/>
              <a:pPr/>
              <a:t>‹Nr.›</a:t>
            </a:fld>
            <a:endParaRPr lang="de-DE"/>
          </a:p>
        </p:txBody>
      </p:sp>
    </p:spTree>
    <p:extLst>
      <p:ext uri="{BB962C8B-B14F-4D97-AF65-F5344CB8AC3E}">
        <p14:creationId xmlns:p14="http://schemas.microsoft.com/office/powerpoint/2010/main" val="344072135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ＭＳ Ｐゴシック" pitchFamily="-65" charset="-128"/>
        <a:cs typeface="ＭＳ Ｐゴシック" pitchFamily="18" charset="-128"/>
      </a:defRPr>
    </a:lvl1pPr>
    <a:lvl2pPr marL="457200" algn="l" rtl="0" eaLnBrk="0" fontAlgn="base" hangingPunct="0">
      <a:spcBef>
        <a:spcPct val="30000"/>
      </a:spcBef>
      <a:spcAft>
        <a:spcPct val="0"/>
      </a:spcAft>
      <a:defRPr sz="1200" kern="1200">
        <a:solidFill>
          <a:schemeClr val="tx1"/>
        </a:solidFill>
        <a:latin typeface="Arial" pitchFamily="34" charset="0"/>
        <a:ea typeface="ＭＳ Ｐゴシック" pitchFamily="-65" charset="-128"/>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ＭＳ Ｐゴシック" pitchFamily="-65" charset="-128"/>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ＭＳ Ｐゴシック" pitchFamily="-65" charset="-128"/>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ＭＳ Ｐゴシック" pitchFamily="-65"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wmf"/><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spTree>
      <p:nvGrpSpPr>
        <p:cNvPr id="1" name=""/>
        <p:cNvGrpSpPr/>
        <p:nvPr/>
      </p:nvGrpSpPr>
      <p:grpSpPr>
        <a:xfrm>
          <a:off x="0" y="0"/>
          <a:ext cx="0" cy="0"/>
          <a:chOff x="0" y="0"/>
          <a:chExt cx="0" cy="0"/>
        </a:xfrm>
      </p:grpSpPr>
      <p:sp>
        <p:nvSpPr>
          <p:cNvPr id="11267" name="Rectangle 3"/>
          <p:cNvSpPr>
            <a:spLocks noGrp="1" noChangeArrowheads="1"/>
          </p:cNvSpPr>
          <p:nvPr>
            <p:ph type="ctrTitle"/>
          </p:nvPr>
        </p:nvSpPr>
        <p:spPr>
          <a:xfrm>
            <a:off x="520700" y="2735860"/>
            <a:ext cx="8128000" cy="1295400"/>
          </a:xfrm>
        </p:spPr>
        <p:txBody>
          <a:bodyPr/>
          <a:lstStyle>
            <a:lvl1pPr algn="ctr">
              <a:defRPr sz="3200" b="0">
                <a:solidFill>
                  <a:schemeClr val="bg2"/>
                </a:solidFill>
              </a:defRPr>
            </a:lvl1pPr>
          </a:lstStyle>
          <a:p>
            <a:r>
              <a:rPr lang="en-US" noProof="0" dirty="0" err="1" smtClean="0"/>
              <a:t>Titelmasterformat</a:t>
            </a:r>
            <a:r>
              <a:rPr lang="en-US" noProof="0" dirty="0" smtClean="0"/>
              <a:t> </a:t>
            </a:r>
            <a:r>
              <a:rPr lang="en-US" noProof="0" dirty="0" err="1" smtClean="0"/>
              <a:t>durch</a:t>
            </a:r>
            <a:r>
              <a:rPr lang="en-US" noProof="0" dirty="0" smtClean="0"/>
              <a:t> </a:t>
            </a:r>
            <a:r>
              <a:rPr lang="en-US" noProof="0" dirty="0" err="1" smtClean="0"/>
              <a:t>Klicken</a:t>
            </a:r>
            <a:r>
              <a:rPr lang="en-US" noProof="0" dirty="0" smtClean="0"/>
              <a:t> </a:t>
            </a:r>
            <a:r>
              <a:rPr lang="en-US" noProof="0" dirty="0" err="1" smtClean="0"/>
              <a:t>bearbeiten</a:t>
            </a:r>
            <a:endParaRPr lang="en-US" noProof="0" dirty="0"/>
          </a:p>
        </p:txBody>
      </p:sp>
      <p:sp>
        <p:nvSpPr>
          <p:cNvPr id="11268" name="Rectangle 4"/>
          <p:cNvSpPr>
            <a:spLocks noGrp="1" noChangeArrowheads="1"/>
          </p:cNvSpPr>
          <p:nvPr>
            <p:ph type="subTitle" idx="1"/>
          </p:nvPr>
        </p:nvSpPr>
        <p:spPr>
          <a:xfrm>
            <a:off x="520700" y="4336060"/>
            <a:ext cx="8128000" cy="1752600"/>
          </a:xfrm>
        </p:spPr>
        <p:txBody>
          <a:bodyPr/>
          <a:lstStyle>
            <a:lvl1pPr marL="0" indent="0" algn="ctr">
              <a:buFontTx/>
              <a:buNone/>
              <a:defRPr sz="2400"/>
            </a:lvl1pPr>
          </a:lstStyle>
          <a:p>
            <a:r>
              <a:rPr lang="en-US" noProof="0" dirty="0" err="1" smtClean="0"/>
              <a:t>Formatvorlage</a:t>
            </a:r>
            <a:r>
              <a:rPr lang="en-US" noProof="0" dirty="0" smtClean="0"/>
              <a:t> des </a:t>
            </a:r>
            <a:r>
              <a:rPr lang="en-US" noProof="0" dirty="0" err="1" smtClean="0"/>
              <a:t>Untertitelmasters</a:t>
            </a:r>
            <a:r>
              <a:rPr lang="en-US" noProof="0" dirty="0" smtClean="0"/>
              <a:t> </a:t>
            </a:r>
            <a:r>
              <a:rPr lang="en-US" noProof="0" dirty="0" err="1" smtClean="0"/>
              <a:t>durch</a:t>
            </a:r>
            <a:r>
              <a:rPr lang="en-US" noProof="0" dirty="0" smtClean="0"/>
              <a:t> </a:t>
            </a:r>
            <a:r>
              <a:rPr lang="en-US" noProof="0" dirty="0" err="1" smtClean="0"/>
              <a:t>Klicken</a:t>
            </a:r>
            <a:r>
              <a:rPr lang="en-US" noProof="0" dirty="0" smtClean="0"/>
              <a:t> </a:t>
            </a:r>
            <a:r>
              <a:rPr lang="en-US" noProof="0" dirty="0" err="1" smtClean="0"/>
              <a:t>bearbeiten</a:t>
            </a:r>
            <a:endParaRPr lang="en-US" noProof="0" dirty="0"/>
          </a:p>
        </p:txBody>
      </p:sp>
      <p:sp>
        <p:nvSpPr>
          <p:cNvPr id="8" name="Rectangle 6"/>
          <p:cNvSpPr>
            <a:spLocks noGrp="1" noChangeArrowheads="1"/>
          </p:cNvSpPr>
          <p:nvPr>
            <p:ph type="ftr" sz="quarter" idx="10"/>
          </p:nvPr>
        </p:nvSpPr>
        <p:spPr>
          <a:xfrm>
            <a:off x="508000" y="6400800"/>
            <a:ext cx="8153400" cy="304800"/>
          </a:xfrm>
        </p:spPr>
        <p:txBody>
          <a:bodyPr anchor="t"/>
          <a:lstStyle>
            <a:lvl1pPr>
              <a:defRPr/>
            </a:lvl1pPr>
          </a:lstStyle>
          <a:p>
            <a:endParaRPr lang="en-US" noProof="0" dirty="0"/>
          </a:p>
        </p:txBody>
      </p:sp>
      <p:pic>
        <p:nvPicPr>
          <p:cNvPr id="10" name="Bild 9" descr="LS_Medientechnik_OS_Blau_RGB.wmf"/>
          <p:cNvPicPr>
            <a:picLocks noChangeAspect="1"/>
          </p:cNvPicPr>
          <p:nvPr userDrawn="1"/>
        </p:nvPicPr>
        <p:blipFill>
          <a:blip r:embed="rId2" cstate="email">
            <a:extLst>
              <a:ext uri="{28A0092B-C50C-407E-A947-70E740481C1C}">
                <a14:useLocalDpi xmlns:a14="http://schemas.microsoft.com/office/drawing/2010/main" val="0"/>
              </a:ext>
            </a:extLst>
          </a:blip>
          <a:stretch>
            <a:fillRect/>
          </a:stretch>
        </p:blipFill>
        <p:spPr>
          <a:xfrm>
            <a:off x="507277" y="420121"/>
            <a:ext cx="546137" cy="546137"/>
          </a:xfrm>
          <a:prstGeom prst="rect">
            <a:avLst/>
          </a:prstGeom>
        </p:spPr>
      </p:pic>
      <p:pic>
        <p:nvPicPr>
          <p:cNvPr id="12" name="Picture 29" descr="U:\Logos und Grafiken\TUMLogo_oZ_Vollfl_blau_RGB.png"/>
          <p:cNvPicPr>
            <a:picLocks noChangeAspect="1" noChangeArrowheads="1"/>
          </p:cNvPicPr>
          <p:nvPr userDrawn="1"/>
        </p:nvPicPr>
        <p:blipFill>
          <a:blip r:embed="rId3" cstate="email">
            <a:extLst>
              <a:ext uri="{28A0092B-C50C-407E-A947-70E740481C1C}">
                <a14:useLocalDpi xmlns:a14="http://schemas.microsoft.com/office/drawing/2010/main" val="0"/>
              </a:ext>
            </a:extLst>
          </a:blip>
          <a:srcRect/>
          <a:stretch>
            <a:fillRect/>
          </a:stretch>
        </p:blipFill>
        <p:spPr bwMode="auto">
          <a:xfrm>
            <a:off x="7634920" y="423276"/>
            <a:ext cx="1026072" cy="5416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945313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lvl1pPr>
              <a:defRPr sz="3200"/>
            </a:lvl1pPr>
          </a:lstStyle>
          <a:p>
            <a:r>
              <a:rPr lang="en-US" noProof="0" dirty="0" err="1" smtClean="0"/>
              <a:t>Titelmasterformat</a:t>
            </a:r>
            <a:r>
              <a:rPr lang="en-US" noProof="0" dirty="0" smtClean="0"/>
              <a:t> </a:t>
            </a:r>
            <a:r>
              <a:rPr lang="en-US" noProof="0" dirty="0" err="1" smtClean="0"/>
              <a:t>durch</a:t>
            </a:r>
            <a:r>
              <a:rPr lang="en-US" noProof="0" dirty="0" smtClean="0"/>
              <a:t> </a:t>
            </a:r>
            <a:r>
              <a:rPr lang="en-US" noProof="0" dirty="0" err="1" smtClean="0"/>
              <a:t>Klicken</a:t>
            </a:r>
            <a:r>
              <a:rPr lang="en-US" noProof="0" dirty="0" smtClean="0"/>
              <a:t> </a:t>
            </a:r>
            <a:r>
              <a:rPr lang="en-US" noProof="0" dirty="0" err="1" smtClean="0"/>
              <a:t>bearbeiten</a:t>
            </a:r>
            <a:endParaRPr lang="en-US" noProof="0" dirty="0"/>
          </a:p>
        </p:txBody>
      </p:sp>
      <p:sp>
        <p:nvSpPr>
          <p:cNvPr id="3" name="Inhaltsplatzhalter 2"/>
          <p:cNvSpPr>
            <a:spLocks noGrp="1"/>
          </p:cNvSpPr>
          <p:nvPr>
            <p:ph idx="1"/>
          </p:nvPr>
        </p:nvSpPr>
        <p:spPr/>
        <p:txBody>
          <a:bodyPr/>
          <a:lstStyle>
            <a:lvl1pPr>
              <a:defRPr sz="2000"/>
            </a:lvl1pPr>
          </a:lstStyle>
          <a:p>
            <a:pPr lvl="0"/>
            <a:r>
              <a:rPr lang="en-US" noProof="0" dirty="0" err="1" smtClean="0"/>
              <a:t>Textmasterformate</a:t>
            </a:r>
            <a:r>
              <a:rPr lang="en-US" noProof="0" dirty="0" smtClean="0"/>
              <a:t> </a:t>
            </a:r>
            <a:r>
              <a:rPr lang="en-US" noProof="0" dirty="0" err="1" smtClean="0"/>
              <a:t>durch</a:t>
            </a:r>
            <a:r>
              <a:rPr lang="en-US" noProof="0" dirty="0" smtClean="0"/>
              <a:t> </a:t>
            </a:r>
            <a:r>
              <a:rPr lang="en-US" noProof="0" dirty="0" err="1" smtClean="0"/>
              <a:t>Klicken</a:t>
            </a:r>
            <a:r>
              <a:rPr lang="en-US" noProof="0" dirty="0" smtClean="0"/>
              <a:t> </a:t>
            </a:r>
            <a:r>
              <a:rPr lang="en-US" noProof="0" dirty="0" err="1" smtClean="0"/>
              <a:t>bearbeiten</a:t>
            </a:r>
            <a:endParaRPr lang="en-US" noProof="0" dirty="0" smtClean="0"/>
          </a:p>
          <a:p>
            <a:pPr lvl="1"/>
            <a:r>
              <a:rPr lang="en-US" noProof="0" dirty="0" err="1" smtClean="0"/>
              <a:t>Zweite</a:t>
            </a:r>
            <a:r>
              <a:rPr lang="en-US" noProof="0" dirty="0" smtClean="0"/>
              <a:t> </a:t>
            </a:r>
            <a:r>
              <a:rPr lang="en-US" noProof="0" dirty="0" err="1" smtClean="0"/>
              <a:t>Ebene</a:t>
            </a:r>
            <a:endParaRPr lang="en-US" noProof="0" dirty="0" smtClean="0"/>
          </a:p>
          <a:p>
            <a:pPr lvl="2"/>
            <a:r>
              <a:rPr lang="en-US" noProof="0" dirty="0" err="1" smtClean="0"/>
              <a:t>Dritte</a:t>
            </a:r>
            <a:r>
              <a:rPr lang="en-US" noProof="0" dirty="0" smtClean="0"/>
              <a:t> </a:t>
            </a:r>
            <a:r>
              <a:rPr lang="en-US" noProof="0" dirty="0" err="1" smtClean="0"/>
              <a:t>Ebene</a:t>
            </a:r>
            <a:endParaRPr lang="en-US" noProof="0" dirty="0" smtClean="0"/>
          </a:p>
          <a:p>
            <a:pPr lvl="3"/>
            <a:r>
              <a:rPr lang="en-US" noProof="0" dirty="0" err="1" smtClean="0"/>
              <a:t>Vierte</a:t>
            </a:r>
            <a:r>
              <a:rPr lang="en-US" noProof="0" dirty="0" smtClean="0"/>
              <a:t> </a:t>
            </a:r>
            <a:r>
              <a:rPr lang="en-US" noProof="0" dirty="0" err="1" smtClean="0"/>
              <a:t>Ebene</a:t>
            </a:r>
            <a:endParaRPr lang="en-US" noProof="0" dirty="0" smtClean="0"/>
          </a:p>
          <a:p>
            <a:pPr lvl="4"/>
            <a:r>
              <a:rPr lang="en-US" noProof="0" dirty="0" err="1" smtClean="0"/>
              <a:t>Fünfte</a:t>
            </a:r>
            <a:r>
              <a:rPr lang="en-US" noProof="0" dirty="0" smtClean="0"/>
              <a:t> </a:t>
            </a:r>
            <a:r>
              <a:rPr lang="en-US" noProof="0" dirty="0" err="1" smtClean="0"/>
              <a:t>Ebene</a:t>
            </a:r>
            <a:endParaRPr lang="en-US" noProof="0" dirty="0"/>
          </a:p>
        </p:txBody>
      </p:sp>
      <p:sp>
        <p:nvSpPr>
          <p:cNvPr id="4" name="Rectangle 4"/>
          <p:cNvSpPr>
            <a:spLocks noGrp="1" noChangeArrowheads="1"/>
          </p:cNvSpPr>
          <p:nvPr>
            <p:ph type="dt" sz="half" idx="10"/>
          </p:nvPr>
        </p:nvSpPr>
        <p:spPr>
          <a:ln/>
        </p:spPr>
        <p:txBody>
          <a:bodyPr/>
          <a:lstStyle>
            <a:lvl1pPr>
              <a:defRPr/>
            </a:lvl1pPr>
          </a:lstStyle>
          <a:p>
            <a:fld id="{2F608F0F-3717-0942-9241-E6563A14553B}" type="datetime1">
              <a:rPr lang="en-US" noProof="0" smtClean="0"/>
              <a:pPr/>
              <a:t>10/1/2014</a:t>
            </a:fld>
            <a:endParaRPr lang="en-US" noProof="0"/>
          </a:p>
        </p:txBody>
      </p:sp>
      <p:sp>
        <p:nvSpPr>
          <p:cNvPr id="5" name="Rectangle 5"/>
          <p:cNvSpPr>
            <a:spLocks noGrp="1" noChangeArrowheads="1"/>
          </p:cNvSpPr>
          <p:nvPr>
            <p:ph type="ftr" sz="quarter" idx="11"/>
          </p:nvPr>
        </p:nvSpPr>
        <p:spPr>
          <a:ln/>
        </p:spPr>
        <p:txBody>
          <a:bodyPr/>
          <a:lstStyle>
            <a:lvl1pPr>
              <a:defRPr/>
            </a:lvl1pPr>
          </a:lstStyle>
          <a:p>
            <a:endParaRPr lang="en-US" noProof="0"/>
          </a:p>
        </p:txBody>
      </p:sp>
      <p:sp>
        <p:nvSpPr>
          <p:cNvPr id="6" name="Rectangle 6"/>
          <p:cNvSpPr>
            <a:spLocks noGrp="1" noChangeArrowheads="1"/>
          </p:cNvSpPr>
          <p:nvPr>
            <p:ph type="sldNum" sz="quarter" idx="12"/>
          </p:nvPr>
        </p:nvSpPr>
        <p:spPr>
          <a:ln/>
        </p:spPr>
        <p:txBody>
          <a:bodyPr/>
          <a:lstStyle>
            <a:lvl1pPr>
              <a:defRPr/>
            </a:lvl1pPr>
          </a:lstStyle>
          <a:p>
            <a:fld id="{17CC94CD-1FE7-0C44-80F4-2964C2C99554}" type="slidenum">
              <a:rPr lang="en-US" noProof="0" smtClean="0"/>
              <a:pPr/>
              <a:t>‹Nr.›</a:t>
            </a:fld>
            <a:endParaRPr lang="en-US" noProof="0"/>
          </a:p>
        </p:txBody>
      </p:sp>
    </p:spTree>
    <p:extLst>
      <p:ext uri="{BB962C8B-B14F-4D97-AF65-F5344CB8AC3E}">
        <p14:creationId xmlns:p14="http://schemas.microsoft.com/office/powerpoint/2010/main" val="27852595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lvl1pPr>
              <a:defRPr sz="2800" baseline="0"/>
            </a:lvl1pPr>
          </a:lstStyle>
          <a:p>
            <a:r>
              <a:rPr lang="en-US" noProof="0" dirty="0" err="1" smtClean="0"/>
              <a:t>Titelmasterformat</a:t>
            </a:r>
            <a:r>
              <a:rPr lang="en-US" noProof="0" dirty="0" smtClean="0"/>
              <a:t> </a:t>
            </a:r>
            <a:r>
              <a:rPr lang="en-US" noProof="0" dirty="0" err="1" smtClean="0"/>
              <a:t>durch</a:t>
            </a:r>
            <a:r>
              <a:rPr lang="en-US" noProof="0" dirty="0" smtClean="0"/>
              <a:t> </a:t>
            </a:r>
            <a:r>
              <a:rPr lang="en-US" noProof="0" dirty="0" err="1" smtClean="0"/>
              <a:t>Klicken</a:t>
            </a:r>
            <a:r>
              <a:rPr lang="en-US" noProof="0" dirty="0" smtClean="0"/>
              <a:t> </a:t>
            </a:r>
            <a:r>
              <a:rPr lang="en-US" noProof="0" dirty="0" err="1" smtClean="0"/>
              <a:t>bearbeiten</a:t>
            </a:r>
            <a:endParaRPr lang="en-US" noProof="0" dirty="0"/>
          </a:p>
        </p:txBody>
      </p:sp>
      <p:sp>
        <p:nvSpPr>
          <p:cNvPr id="3" name="Inhaltsplatzhalter 2"/>
          <p:cNvSpPr>
            <a:spLocks noGrp="1"/>
          </p:cNvSpPr>
          <p:nvPr>
            <p:ph sz="half" idx="1"/>
          </p:nvPr>
        </p:nvSpPr>
        <p:spPr>
          <a:xfrm>
            <a:off x="508000" y="1692275"/>
            <a:ext cx="3987800" cy="4479925"/>
          </a:xfrm>
        </p:spPr>
        <p:txBody>
          <a:bodyPr/>
          <a:lstStyle>
            <a:lvl1pPr>
              <a:defRPr sz="2400"/>
            </a:lvl1pPr>
            <a:lvl2pPr>
              <a:defRPr sz="2000"/>
            </a:lvl2pPr>
            <a:lvl3pPr>
              <a:defRPr sz="2000"/>
            </a:lvl3pPr>
            <a:lvl4pPr>
              <a:defRPr sz="2000"/>
            </a:lvl4pPr>
            <a:lvl5pPr>
              <a:defRPr sz="2000"/>
            </a:lvl5pPr>
            <a:lvl6pPr>
              <a:defRPr sz="1800"/>
            </a:lvl6pPr>
            <a:lvl7pPr>
              <a:defRPr sz="1800"/>
            </a:lvl7pPr>
            <a:lvl8pPr>
              <a:defRPr sz="1800"/>
            </a:lvl8pPr>
            <a:lvl9pPr>
              <a:defRPr sz="1800"/>
            </a:lvl9pPr>
          </a:lstStyle>
          <a:p>
            <a:pPr lvl="0"/>
            <a:r>
              <a:rPr lang="en-US" noProof="0" dirty="0" err="1" smtClean="0"/>
              <a:t>Textmasterformate</a:t>
            </a:r>
            <a:r>
              <a:rPr lang="en-US" noProof="0" dirty="0" smtClean="0"/>
              <a:t> </a:t>
            </a:r>
            <a:r>
              <a:rPr lang="en-US" noProof="0" dirty="0" err="1" smtClean="0"/>
              <a:t>durch</a:t>
            </a:r>
            <a:r>
              <a:rPr lang="en-US" noProof="0" dirty="0" smtClean="0"/>
              <a:t> </a:t>
            </a:r>
            <a:r>
              <a:rPr lang="en-US" noProof="0" dirty="0" err="1" smtClean="0"/>
              <a:t>Klicken</a:t>
            </a:r>
            <a:r>
              <a:rPr lang="en-US" noProof="0" dirty="0" smtClean="0"/>
              <a:t> </a:t>
            </a:r>
            <a:r>
              <a:rPr lang="en-US" noProof="0" dirty="0" err="1" smtClean="0"/>
              <a:t>bearbeiten</a:t>
            </a:r>
            <a:endParaRPr lang="en-US" noProof="0" dirty="0" smtClean="0"/>
          </a:p>
          <a:p>
            <a:pPr lvl="1"/>
            <a:r>
              <a:rPr lang="en-US" noProof="0" dirty="0" err="1" smtClean="0"/>
              <a:t>Zweite</a:t>
            </a:r>
            <a:r>
              <a:rPr lang="en-US" noProof="0" dirty="0" smtClean="0"/>
              <a:t> </a:t>
            </a:r>
            <a:r>
              <a:rPr lang="en-US" noProof="0" dirty="0" err="1" smtClean="0"/>
              <a:t>Ebene</a:t>
            </a:r>
            <a:endParaRPr lang="en-US" noProof="0" dirty="0" smtClean="0"/>
          </a:p>
          <a:p>
            <a:pPr lvl="2"/>
            <a:r>
              <a:rPr lang="en-US" noProof="0" dirty="0" err="1" smtClean="0"/>
              <a:t>Dritte</a:t>
            </a:r>
            <a:r>
              <a:rPr lang="en-US" noProof="0" dirty="0" smtClean="0"/>
              <a:t> </a:t>
            </a:r>
            <a:r>
              <a:rPr lang="en-US" noProof="0" dirty="0" err="1" smtClean="0"/>
              <a:t>Ebene</a:t>
            </a:r>
            <a:endParaRPr lang="en-US" noProof="0" dirty="0" smtClean="0"/>
          </a:p>
          <a:p>
            <a:pPr lvl="3"/>
            <a:r>
              <a:rPr lang="en-US" noProof="0" dirty="0" err="1" smtClean="0"/>
              <a:t>Vierte</a:t>
            </a:r>
            <a:r>
              <a:rPr lang="en-US" noProof="0" dirty="0" smtClean="0"/>
              <a:t> </a:t>
            </a:r>
            <a:r>
              <a:rPr lang="en-US" noProof="0" dirty="0" err="1" smtClean="0"/>
              <a:t>Ebene</a:t>
            </a:r>
            <a:endParaRPr lang="en-US" noProof="0" dirty="0" smtClean="0"/>
          </a:p>
          <a:p>
            <a:pPr lvl="4"/>
            <a:r>
              <a:rPr lang="en-US" noProof="0" dirty="0" err="1" smtClean="0"/>
              <a:t>Fünfte</a:t>
            </a:r>
            <a:r>
              <a:rPr lang="en-US" noProof="0" dirty="0" smtClean="0"/>
              <a:t> </a:t>
            </a:r>
            <a:r>
              <a:rPr lang="en-US" noProof="0" dirty="0" err="1" smtClean="0"/>
              <a:t>Ebene</a:t>
            </a:r>
            <a:endParaRPr lang="en-US" noProof="0" dirty="0"/>
          </a:p>
        </p:txBody>
      </p:sp>
      <p:sp>
        <p:nvSpPr>
          <p:cNvPr id="4" name="Inhaltsplatzhalter 3"/>
          <p:cNvSpPr>
            <a:spLocks noGrp="1"/>
          </p:cNvSpPr>
          <p:nvPr>
            <p:ph sz="half" idx="2"/>
          </p:nvPr>
        </p:nvSpPr>
        <p:spPr>
          <a:xfrm>
            <a:off x="4648200" y="1692275"/>
            <a:ext cx="3987800" cy="4479925"/>
          </a:xfrm>
        </p:spPr>
        <p:txBody>
          <a:bodyPr/>
          <a:lstStyle>
            <a:lvl1pPr>
              <a:defRPr sz="2400"/>
            </a:lvl1pPr>
            <a:lvl2pPr>
              <a:defRPr sz="2000"/>
            </a:lvl2pPr>
            <a:lvl3pPr>
              <a:defRPr sz="2000"/>
            </a:lvl3pPr>
            <a:lvl4pPr>
              <a:defRPr sz="2000"/>
            </a:lvl4pPr>
            <a:lvl5pPr>
              <a:defRPr sz="2000"/>
            </a:lvl5pPr>
            <a:lvl6pPr>
              <a:defRPr sz="1800"/>
            </a:lvl6pPr>
            <a:lvl7pPr>
              <a:defRPr sz="1800"/>
            </a:lvl7pPr>
            <a:lvl8pPr>
              <a:defRPr sz="1800"/>
            </a:lvl8pPr>
            <a:lvl9pPr>
              <a:defRPr sz="1800"/>
            </a:lvl9pPr>
          </a:lstStyle>
          <a:p>
            <a:pPr lvl="0"/>
            <a:r>
              <a:rPr lang="en-US" noProof="0" dirty="0" err="1" smtClean="0"/>
              <a:t>Textmasterformate</a:t>
            </a:r>
            <a:r>
              <a:rPr lang="en-US" noProof="0" dirty="0" smtClean="0"/>
              <a:t> </a:t>
            </a:r>
            <a:r>
              <a:rPr lang="en-US" noProof="0" dirty="0" err="1" smtClean="0"/>
              <a:t>durch</a:t>
            </a:r>
            <a:r>
              <a:rPr lang="en-US" noProof="0" dirty="0" smtClean="0"/>
              <a:t> </a:t>
            </a:r>
            <a:r>
              <a:rPr lang="en-US" noProof="0" dirty="0" err="1" smtClean="0"/>
              <a:t>Klicken</a:t>
            </a:r>
            <a:r>
              <a:rPr lang="en-US" noProof="0" dirty="0" smtClean="0"/>
              <a:t> </a:t>
            </a:r>
            <a:r>
              <a:rPr lang="en-US" noProof="0" dirty="0" err="1" smtClean="0"/>
              <a:t>bearbeiten</a:t>
            </a:r>
            <a:endParaRPr lang="en-US" noProof="0" dirty="0" smtClean="0"/>
          </a:p>
          <a:p>
            <a:pPr lvl="1"/>
            <a:r>
              <a:rPr lang="en-US" noProof="0" dirty="0" err="1" smtClean="0"/>
              <a:t>Zweite</a:t>
            </a:r>
            <a:r>
              <a:rPr lang="en-US" noProof="0" dirty="0" smtClean="0"/>
              <a:t> </a:t>
            </a:r>
            <a:r>
              <a:rPr lang="en-US" noProof="0" dirty="0" err="1" smtClean="0"/>
              <a:t>Ebene</a:t>
            </a:r>
            <a:endParaRPr lang="en-US" noProof="0" dirty="0" smtClean="0"/>
          </a:p>
          <a:p>
            <a:pPr lvl="2"/>
            <a:r>
              <a:rPr lang="en-US" noProof="0" dirty="0" err="1" smtClean="0"/>
              <a:t>Dritte</a:t>
            </a:r>
            <a:r>
              <a:rPr lang="en-US" noProof="0" dirty="0" smtClean="0"/>
              <a:t> </a:t>
            </a:r>
            <a:r>
              <a:rPr lang="en-US" noProof="0" dirty="0" err="1" smtClean="0"/>
              <a:t>Ebene</a:t>
            </a:r>
            <a:endParaRPr lang="en-US" noProof="0" dirty="0" smtClean="0"/>
          </a:p>
          <a:p>
            <a:pPr lvl="3"/>
            <a:r>
              <a:rPr lang="en-US" noProof="0" dirty="0" err="1" smtClean="0"/>
              <a:t>Vierte</a:t>
            </a:r>
            <a:r>
              <a:rPr lang="en-US" noProof="0" dirty="0" smtClean="0"/>
              <a:t> </a:t>
            </a:r>
            <a:r>
              <a:rPr lang="en-US" noProof="0" dirty="0" err="1" smtClean="0"/>
              <a:t>Ebene</a:t>
            </a:r>
            <a:endParaRPr lang="en-US" noProof="0" dirty="0" smtClean="0"/>
          </a:p>
          <a:p>
            <a:pPr lvl="4"/>
            <a:r>
              <a:rPr lang="en-US" noProof="0" dirty="0" err="1" smtClean="0"/>
              <a:t>Fünfte</a:t>
            </a:r>
            <a:r>
              <a:rPr lang="en-US" noProof="0" dirty="0" smtClean="0"/>
              <a:t> </a:t>
            </a:r>
            <a:r>
              <a:rPr lang="en-US" noProof="0" dirty="0" err="1" smtClean="0"/>
              <a:t>Ebene</a:t>
            </a:r>
            <a:endParaRPr lang="en-US" noProof="0" dirty="0"/>
          </a:p>
        </p:txBody>
      </p:sp>
      <p:sp>
        <p:nvSpPr>
          <p:cNvPr id="5" name="Rectangle 4"/>
          <p:cNvSpPr>
            <a:spLocks noGrp="1" noChangeArrowheads="1"/>
          </p:cNvSpPr>
          <p:nvPr>
            <p:ph type="dt" sz="half" idx="10"/>
          </p:nvPr>
        </p:nvSpPr>
        <p:spPr>
          <a:ln/>
        </p:spPr>
        <p:txBody>
          <a:bodyPr/>
          <a:lstStyle>
            <a:lvl1pPr>
              <a:defRPr/>
            </a:lvl1pPr>
          </a:lstStyle>
          <a:p>
            <a:fld id="{1583E054-FA98-0D4D-A84E-988AA305B92A}" type="datetime1">
              <a:rPr lang="en-US" noProof="0" smtClean="0"/>
              <a:pPr/>
              <a:t>10/1/2014</a:t>
            </a:fld>
            <a:endParaRPr lang="en-US" noProof="0"/>
          </a:p>
        </p:txBody>
      </p:sp>
      <p:sp>
        <p:nvSpPr>
          <p:cNvPr id="6" name="Rectangle 5"/>
          <p:cNvSpPr>
            <a:spLocks noGrp="1" noChangeArrowheads="1"/>
          </p:cNvSpPr>
          <p:nvPr>
            <p:ph type="ftr" sz="quarter" idx="11"/>
          </p:nvPr>
        </p:nvSpPr>
        <p:spPr>
          <a:ln/>
        </p:spPr>
        <p:txBody>
          <a:bodyPr/>
          <a:lstStyle>
            <a:lvl1pPr>
              <a:defRPr/>
            </a:lvl1pPr>
          </a:lstStyle>
          <a:p>
            <a:endParaRPr lang="en-US" noProof="0"/>
          </a:p>
        </p:txBody>
      </p:sp>
      <p:sp>
        <p:nvSpPr>
          <p:cNvPr id="7" name="Rectangle 6"/>
          <p:cNvSpPr>
            <a:spLocks noGrp="1" noChangeArrowheads="1"/>
          </p:cNvSpPr>
          <p:nvPr>
            <p:ph type="sldNum" sz="quarter" idx="12"/>
          </p:nvPr>
        </p:nvSpPr>
        <p:spPr>
          <a:ln/>
        </p:spPr>
        <p:txBody>
          <a:bodyPr/>
          <a:lstStyle>
            <a:lvl1pPr>
              <a:defRPr/>
            </a:lvl1pPr>
          </a:lstStyle>
          <a:p>
            <a:fld id="{BEEA83A0-A104-9441-ACE9-BF30B05124E9}" type="slidenum">
              <a:rPr lang="en-US" noProof="0" smtClean="0"/>
              <a:pPr/>
              <a:t>‹Nr.›</a:t>
            </a:fld>
            <a:endParaRPr lang="en-US" noProof="0"/>
          </a:p>
        </p:txBody>
      </p:sp>
    </p:spTree>
    <p:extLst>
      <p:ext uri="{BB962C8B-B14F-4D97-AF65-F5344CB8AC3E}">
        <p14:creationId xmlns:p14="http://schemas.microsoft.com/office/powerpoint/2010/main" val="261157097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wmf"/><Relationship Id="rId6"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508000" y="849790"/>
            <a:ext cx="8128000" cy="601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p>
            <a:pPr lvl="0"/>
            <a:r>
              <a:rPr lang="en-US" noProof="0" dirty="0" err="1" smtClean="0"/>
              <a:t>Mastertitelformat</a:t>
            </a:r>
            <a:r>
              <a:rPr lang="en-US" noProof="0" dirty="0" smtClean="0"/>
              <a:t> </a:t>
            </a:r>
            <a:r>
              <a:rPr lang="en-US" noProof="0" dirty="0" err="1" smtClean="0"/>
              <a:t>bearbeiten</a:t>
            </a:r>
            <a:endParaRPr lang="en-US" noProof="0" dirty="0"/>
          </a:p>
        </p:txBody>
      </p:sp>
      <p:sp>
        <p:nvSpPr>
          <p:cNvPr id="1027" name="Rectangle 3"/>
          <p:cNvSpPr>
            <a:spLocks noGrp="1" noChangeArrowheads="1"/>
          </p:cNvSpPr>
          <p:nvPr>
            <p:ph type="body" idx="1"/>
          </p:nvPr>
        </p:nvSpPr>
        <p:spPr bwMode="auto">
          <a:xfrm>
            <a:off x="508000" y="1701800"/>
            <a:ext cx="8128000" cy="4470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p>
            <a:pPr lvl="0"/>
            <a:r>
              <a:rPr lang="en-US" noProof="0" dirty="0" err="1" smtClean="0"/>
              <a:t>Mastertextformat</a:t>
            </a:r>
            <a:r>
              <a:rPr lang="en-US" noProof="0" dirty="0" smtClean="0"/>
              <a:t> </a:t>
            </a:r>
            <a:r>
              <a:rPr lang="en-US" noProof="0" dirty="0" err="1" smtClean="0"/>
              <a:t>bearbeiten</a:t>
            </a:r>
            <a:endParaRPr lang="en-US" noProof="0" dirty="0" smtClean="0"/>
          </a:p>
          <a:p>
            <a:pPr lvl="1"/>
            <a:r>
              <a:rPr lang="en-US" noProof="0" dirty="0" err="1" smtClean="0"/>
              <a:t>Zweite</a:t>
            </a:r>
            <a:r>
              <a:rPr lang="en-US" noProof="0" dirty="0" smtClean="0"/>
              <a:t> </a:t>
            </a:r>
            <a:r>
              <a:rPr lang="en-US" noProof="0" dirty="0" err="1" smtClean="0"/>
              <a:t>Ebene</a:t>
            </a:r>
            <a:endParaRPr lang="en-US" noProof="0" dirty="0" smtClean="0"/>
          </a:p>
          <a:p>
            <a:pPr lvl="2"/>
            <a:r>
              <a:rPr lang="en-US" noProof="0" dirty="0" err="1" smtClean="0"/>
              <a:t>Dritte</a:t>
            </a:r>
            <a:r>
              <a:rPr lang="en-US" noProof="0" dirty="0" smtClean="0"/>
              <a:t> </a:t>
            </a:r>
            <a:r>
              <a:rPr lang="en-US" noProof="0" dirty="0" err="1" smtClean="0"/>
              <a:t>Ebene</a:t>
            </a:r>
            <a:endParaRPr lang="en-US" noProof="0" dirty="0" smtClean="0"/>
          </a:p>
          <a:p>
            <a:pPr lvl="3"/>
            <a:r>
              <a:rPr lang="en-US" noProof="0" dirty="0" err="1" smtClean="0"/>
              <a:t>Vierte</a:t>
            </a:r>
            <a:r>
              <a:rPr lang="en-US" noProof="0" dirty="0" smtClean="0"/>
              <a:t> </a:t>
            </a:r>
            <a:r>
              <a:rPr lang="en-US" noProof="0" dirty="0" err="1" smtClean="0"/>
              <a:t>Ebene</a:t>
            </a:r>
            <a:endParaRPr lang="en-US" noProof="0" dirty="0" smtClean="0"/>
          </a:p>
          <a:p>
            <a:pPr lvl="4"/>
            <a:r>
              <a:rPr lang="en-US" noProof="0" dirty="0" err="1" smtClean="0"/>
              <a:t>Fünfte</a:t>
            </a:r>
            <a:r>
              <a:rPr lang="en-US" noProof="0" dirty="0" smtClean="0"/>
              <a:t> </a:t>
            </a:r>
            <a:r>
              <a:rPr lang="en-US" noProof="0" dirty="0" err="1" smtClean="0"/>
              <a:t>Ebene</a:t>
            </a:r>
            <a:endParaRPr lang="en-US" noProof="0" dirty="0"/>
          </a:p>
        </p:txBody>
      </p:sp>
      <p:sp>
        <p:nvSpPr>
          <p:cNvPr id="1028" name="Rectangle 4"/>
          <p:cNvSpPr>
            <a:spLocks noGrp="1" noChangeArrowheads="1"/>
          </p:cNvSpPr>
          <p:nvPr>
            <p:ph type="dt" sz="half" idx="2"/>
          </p:nvPr>
        </p:nvSpPr>
        <p:spPr bwMode="auto">
          <a:xfrm>
            <a:off x="508001" y="6400800"/>
            <a:ext cx="1210752" cy="30480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l">
              <a:defRPr sz="1200" b="0"/>
            </a:lvl1pPr>
          </a:lstStyle>
          <a:p>
            <a:fld id="{35369418-08C0-BE43-AA9B-AD0B2EE4ADC5}" type="datetime1">
              <a:rPr lang="en-US" smtClean="0"/>
              <a:pPr/>
              <a:t>10/1/2014</a:t>
            </a:fld>
            <a:endParaRPr lang="en-US" dirty="0"/>
          </a:p>
        </p:txBody>
      </p:sp>
      <p:sp>
        <p:nvSpPr>
          <p:cNvPr id="1029" name="Rectangle 5"/>
          <p:cNvSpPr>
            <a:spLocks noGrp="1" noChangeArrowheads="1"/>
          </p:cNvSpPr>
          <p:nvPr>
            <p:ph type="ftr" sz="quarter" idx="3"/>
          </p:nvPr>
        </p:nvSpPr>
        <p:spPr bwMode="auto">
          <a:xfrm>
            <a:off x="1986114" y="6400800"/>
            <a:ext cx="5165805" cy="30480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l">
              <a:defRPr sz="1200" b="0"/>
            </a:lvl1pPr>
          </a:lstStyle>
          <a:p>
            <a:endParaRPr lang="en-US" dirty="0"/>
          </a:p>
        </p:txBody>
      </p:sp>
      <p:sp>
        <p:nvSpPr>
          <p:cNvPr id="1030" name="Rectangle 6"/>
          <p:cNvSpPr>
            <a:spLocks noGrp="1" noChangeArrowheads="1"/>
          </p:cNvSpPr>
          <p:nvPr>
            <p:ph type="sldNum" sz="quarter" idx="4"/>
          </p:nvPr>
        </p:nvSpPr>
        <p:spPr bwMode="auto">
          <a:xfrm>
            <a:off x="7438376" y="6400800"/>
            <a:ext cx="1197623" cy="30480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defRPr sz="1200" b="0"/>
            </a:lvl1pPr>
          </a:lstStyle>
          <a:p>
            <a:fld id="{4E0006A5-54B2-7248-935D-336FE5B38FBE}" type="slidenum">
              <a:rPr lang="en-US" smtClean="0"/>
              <a:pPr/>
              <a:t>‹Nr.›</a:t>
            </a:fld>
            <a:endParaRPr lang="en-US"/>
          </a:p>
        </p:txBody>
      </p:sp>
      <p:sp>
        <p:nvSpPr>
          <p:cNvPr id="12" name="Text Box 18"/>
          <p:cNvSpPr txBox="1">
            <a:spLocks noChangeArrowheads="1"/>
          </p:cNvSpPr>
          <p:nvPr userDrawn="1"/>
        </p:nvSpPr>
        <p:spPr bwMode="auto">
          <a:xfrm>
            <a:off x="6224653" y="479425"/>
            <a:ext cx="1846197" cy="230832"/>
          </a:xfrm>
          <a:prstGeom prst="rect">
            <a:avLst/>
          </a:prstGeom>
          <a:noFill/>
          <a:ln w="9525">
            <a:noFill/>
            <a:miter lim="800000"/>
            <a:headEnd/>
            <a:tailEnd/>
          </a:ln>
          <a:effectLst/>
        </p:spPr>
        <p:txBody>
          <a:bodyPr wrap="none">
            <a:spAutoFit/>
          </a:bodyPr>
          <a:lstStyle>
            <a:lvl1pPr>
              <a:defRPr sz="2000">
                <a:solidFill>
                  <a:schemeClr val="tx1"/>
                </a:solidFill>
                <a:latin typeface="Arial" charset="0"/>
                <a:ea typeface="ＭＳ Ｐゴシック" charset="0"/>
                <a:cs typeface="ＭＳ Ｐゴシック" charset="0"/>
              </a:defRPr>
            </a:lvl1pPr>
            <a:lvl2pPr marL="37931725" indent="-37474525">
              <a:defRPr sz="2000">
                <a:solidFill>
                  <a:schemeClr val="tx1"/>
                </a:solidFill>
                <a:latin typeface="Arial" charset="0"/>
                <a:ea typeface="ＭＳ Ｐゴシック" charset="0"/>
              </a:defRPr>
            </a:lvl2pPr>
            <a:lvl3pPr>
              <a:defRPr sz="2000">
                <a:solidFill>
                  <a:schemeClr val="tx1"/>
                </a:solidFill>
                <a:latin typeface="Arial" charset="0"/>
                <a:ea typeface="ＭＳ Ｐゴシック" charset="0"/>
              </a:defRPr>
            </a:lvl3pPr>
            <a:lvl4pPr>
              <a:defRPr sz="2000">
                <a:solidFill>
                  <a:schemeClr val="tx1"/>
                </a:solidFill>
                <a:latin typeface="Arial" charset="0"/>
                <a:ea typeface="ＭＳ Ｐゴシック" charset="0"/>
              </a:defRPr>
            </a:lvl4pPr>
            <a:lvl5pPr>
              <a:defRPr sz="2000">
                <a:solidFill>
                  <a:schemeClr val="tx1"/>
                </a:solidFill>
                <a:latin typeface="Arial" charset="0"/>
                <a:ea typeface="ＭＳ Ｐゴシック" charset="0"/>
              </a:defRPr>
            </a:lvl5pPr>
            <a:lvl6pPr marL="457200" eaLnBrk="0" fontAlgn="base" hangingPunct="0">
              <a:spcBef>
                <a:spcPct val="0"/>
              </a:spcBef>
              <a:spcAft>
                <a:spcPct val="0"/>
              </a:spcAft>
              <a:defRPr sz="2000">
                <a:solidFill>
                  <a:schemeClr val="tx1"/>
                </a:solidFill>
                <a:latin typeface="Arial" charset="0"/>
                <a:ea typeface="ＭＳ Ｐゴシック" charset="0"/>
              </a:defRPr>
            </a:lvl6pPr>
            <a:lvl7pPr marL="914400" eaLnBrk="0" fontAlgn="base" hangingPunct="0">
              <a:spcBef>
                <a:spcPct val="0"/>
              </a:spcBef>
              <a:spcAft>
                <a:spcPct val="0"/>
              </a:spcAft>
              <a:defRPr sz="2000">
                <a:solidFill>
                  <a:schemeClr val="tx1"/>
                </a:solidFill>
                <a:latin typeface="Arial" charset="0"/>
                <a:ea typeface="ＭＳ Ｐゴシック" charset="0"/>
              </a:defRPr>
            </a:lvl7pPr>
            <a:lvl8pPr marL="1371600" eaLnBrk="0" fontAlgn="base" hangingPunct="0">
              <a:spcBef>
                <a:spcPct val="0"/>
              </a:spcBef>
              <a:spcAft>
                <a:spcPct val="0"/>
              </a:spcAft>
              <a:defRPr sz="2000">
                <a:solidFill>
                  <a:schemeClr val="tx1"/>
                </a:solidFill>
                <a:latin typeface="Arial" charset="0"/>
                <a:ea typeface="ＭＳ Ｐゴシック" charset="0"/>
              </a:defRPr>
            </a:lvl8pPr>
            <a:lvl9pPr marL="1828800" eaLnBrk="0" fontAlgn="base" hangingPunct="0">
              <a:spcBef>
                <a:spcPct val="0"/>
              </a:spcBef>
              <a:spcAft>
                <a:spcPct val="0"/>
              </a:spcAft>
              <a:defRPr sz="2000">
                <a:solidFill>
                  <a:schemeClr val="tx1"/>
                </a:solidFill>
                <a:latin typeface="Arial" charset="0"/>
                <a:ea typeface="ＭＳ Ｐゴシック" charset="0"/>
              </a:defRPr>
            </a:lvl9pPr>
          </a:lstStyle>
          <a:p>
            <a:r>
              <a:rPr lang="en-US" sz="900" b="0" noProof="0" dirty="0" err="1" smtClean="0">
                <a:solidFill>
                  <a:schemeClr val="bg2"/>
                </a:solidFill>
              </a:rPr>
              <a:t>Technische</a:t>
            </a:r>
            <a:r>
              <a:rPr lang="en-US" sz="900" b="0" noProof="0" dirty="0" smtClean="0">
                <a:solidFill>
                  <a:schemeClr val="bg2"/>
                </a:solidFill>
              </a:rPr>
              <a:t> </a:t>
            </a:r>
            <a:r>
              <a:rPr lang="en-US" sz="900" b="0" noProof="0" dirty="0" err="1" smtClean="0">
                <a:solidFill>
                  <a:schemeClr val="bg2"/>
                </a:solidFill>
              </a:rPr>
              <a:t>Universität</a:t>
            </a:r>
            <a:r>
              <a:rPr lang="en-US" sz="900" b="0" noProof="0" dirty="0" smtClean="0">
                <a:solidFill>
                  <a:schemeClr val="bg2"/>
                </a:solidFill>
              </a:rPr>
              <a:t> </a:t>
            </a:r>
            <a:r>
              <a:rPr lang="en-US" sz="900" b="0" noProof="0" dirty="0" err="1" smtClean="0">
                <a:solidFill>
                  <a:schemeClr val="bg2"/>
                </a:solidFill>
              </a:rPr>
              <a:t>München</a:t>
            </a:r>
            <a:endParaRPr lang="en-US" sz="900" b="0" noProof="0" dirty="0">
              <a:solidFill>
                <a:schemeClr val="bg2"/>
              </a:solidFill>
            </a:endParaRPr>
          </a:p>
        </p:txBody>
      </p:sp>
      <p:sp>
        <p:nvSpPr>
          <p:cNvPr id="14" name="Line 23"/>
          <p:cNvSpPr>
            <a:spLocks noChangeShapeType="1"/>
          </p:cNvSpPr>
          <p:nvPr userDrawn="1"/>
        </p:nvSpPr>
        <p:spPr bwMode="auto">
          <a:xfrm>
            <a:off x="0" y="6324600"/>
            <a:ext cx="9144000" cy="0"/>
          </a:xfrm>
          <a:prstGeom prst="line">
            <a:avLst/>
          </a:prstGeom>
          <a:noFill/>
          <a:ln w="9525">
            <a:solidFill>
              <a:schemeClr val="bg2"/>
            </a:solidFill>
            <a:round/>
            <a:headEnd/>
            <a:tailEnd/>
          </a:ln>
          <a:effectLst/>
        </p:spPr>
        <p:txBody>
          <a:bodyPr/>
          <a:lstStyle/>
          <a:p>
            <a:pPr>
              <a:defRPr/>
            </a:pPr>
            <a:endParaRPr lang="en-US" b="0" noProof="0">
              <a:latin typeface="Arial" pitchFamily="34" charset="0"/>
              <a:ea typeface="ＭＳ Ｐゴシック" pitchFamily="18" charset="-128"/>
              <a:cs typeface="ＭＳ Ｐゴシック" pitchFamily="18" charset="-128"/>
            </a:endParaRPr>
          </a:p>
        </p:txBody>
      </p:sp>
      <p:sp>
        <p:nvSpPr>
          <p:cNvPr id="16" name="Line 22"/>
          <p:cNvSpPr>
            <a:spLocks noChangeShapeType="1"/>
          </p:cNvSpPr>
          <p:nvPr userDrawn="1"/>
        </p:nvSpPr>
        <p:spPr bwMode="auto">
          <a:xfrm>
            <a:off x="0" y="685800"/>
            <a:ext cx="9144000" cy="0"/>
          </a:xfrm>
          <a:prstGeom prst="line">
            <a:avLst/>
          </a:prstGeom>
          <a:noFill/>
          <a:ln w="9525">
            <a:solidFill>
              <a:schemeClr val="bg2"/>
            </a:solidFill>
            <a:round/>
            <a:headEnd/>
            <a:tailEnd/>
          </a:ln>
          <a:effectLst/>
        </p:spPr>
        <p:txBody>
          <a:bodyPr/>
          <a:lstStyle/>
          <a:p>
            <a:pPr>
              <a:defRPr/>
            </a:pPr>
            <a:endParaRPr lang="en-US" b="0" noProof="0">
              <a:latin typeface="Arial" pitchFamily="34" charset="0"/>
              <a:ea typeface="ＭＳ Ｐゴシック" pitchFamily="18" charset="-128"/>
              <a:cs typeface="ＭＳ Ｐゴシック" pitchFamily="18" charset="-128"/>
            </a:endParaRPr>
          </a:p>
        </p:txBody>
      </p:sp>
      <p:pic>
        <p:nvPicPr>
          <p:cNvPr id="2" name="Bild 1" descr="LS_Medientechnik_OS_Blau_RGB.wmf"/>
          <p:cNvPicPr>
            <a:picLocks noChangeAspect="1"/>
          </p:cNvPicPr>
          <p:nvPr userDrawn="1"/>
        </p:nvPicPr>
        <p:blipFill>
          <a:blip r:embed="rId5" cstate="email">
            <a:extLst>
              <a:ext uri="{28A0092B-C50C-407E-A947-70E740481C1C}">
                <a14:useLocalDpi xmlns:a14="http://schemas.microsoft.com/office/drawing/2010/main" val="0"/>
              </a:ext>
            </a:extLst>
          </a:blip>
          <a:stretch>
            <a:fillRect/>
          </a:stretch>
        </p:blipFill>
        <p:spPr>
          <a:xfrm>
            <a:off x="502511" y="286445"/>
            <a:ext cx="362833" cy="362833"/>
          </a:xfrm>
          <a:prstGeom prst="rect">
            <a:avLst/>
          </a:prstGeom>
        </p:spPr>
      </p:pic>
      <p:sp>
        <p:nvSpPr>
          <p:cNvPr id="13" name="Text Box 18"/>
          <p:cNvSpPr txBox="1">
            <a:spLocks noChangeArrowheads="1"/>
          </p:cNvSpPr>
          <p:nvPr userDrawn="1"/>
        </p:nvSpPr>
        <p:spPr bwMode="auto">
          <a:xfrm>
            <a:off x="866990" y="335830"/>
            <a:ext cx="1903962" cy="369332"/>
          </a:xfrm>
          <a:prstGeom prst="rect">
            <a:avLst/>
          </a:prstGeom>
          <a:noFill/>
          <a:ln w="9525">
            <a:noFill/>
            <a:miter lim="800000"/>
            <a:headEnd/>
            <a:tailEnd/>
          </a:ln>
          <a:effectLst/>
        </p:spPr>
        <p:txBody>
          <a:bodyPr wrap="none">
            <a:spAutoFit/>
          </a:bodyPr>
          <a:lstStyle>
            <a:lvl1pPr>
              <a:defRPr sz="2000">
                <a:solidFill>
                  <a:schemeClr val="tx1"/>
                </a:solidFill>
                <a:latin typeface="Arial" charset="0"/>
                <a:ea typeface="ＭＳ Ｐゴシック" charset="0"/>
                <a:cs typeface="ＭＳ Ｐゴシック" charset="0"/>
              </a:defRPr>
            </a:lvl1pPr>
            <a:lvl2pPr marL="37931725" indent="-37474525">
              <a:defRPr sz="2000">
                <a:solidFill>
                  <a:schemeClr val="tx1"/>
                </a:solidFill>
                <a:latin typeface="Arial" charset="0"/>
                <a:ea typeface="ＭＳ Ｐゴシック" charset="0"/>
              </a:defRPr>
            </a:lvl2pPr>
            <a:lvl3pPr>
              <a:defRPr sz="2000">
                <a:solidFill>
                  <a:schemeClr val="tx1"/>
                </a:solidFill>
                <a:latin typeface="Arial" charset="0"/>
                <a:ea typeface="ＭＳ Ｐゴシック" charset="0"/>
              </a:defRPr>
            </a:lvl3pPr>
            <a:lvl4pPr>
              <a:defRPr sz="2000">
                <a:solidFill>
                  <a:schemeClr val="tx1"/>
                </a:solidFill>
                <a:latin typeface="Arial" charset="0"/>
                <a:ea typeface="ＭＳ Ｐゴシック" charset="0"/>
              </a:defRPr>
            </a:lvl4pPr>
            <a:lvl5pPr>
              <a:defRPr sz="2000">
                <a:solidFill>
                  <a:schemeClr val="tx1"/>
                </a:solidFill>
                <a:latin typeface="Arial" charset="0"/>
                <a:ea typeface="ＭＳ Ｐゴシック" charset="0"/>
              </a:defRPr>
            </a:lvl5pPr>
            <a:lvl6pPr marL="457200" eaLnBrk="0" fontAlgn="base" hangingPunct="0">
              <a:spcBef>
                <a:spcPct val="0"/>
              </a:spcBef>
              <a:spcAft>
                <a:spcPct val="0"/>
              </a:spcAft>
              <a:defRPr sz="2000">
                <a:solidFill>
                  <a:schemeClr val="tx1"/>
                </a:solidFill>
                <a:latin typeface="Arial" charset="0"/>
                <a:ea typeface="ＭＳ Ｐゴシック" charset="0"/>
              </a:defRPr>
            </a:lvl6pPr>
            <a:lvl7pPr marL="914400" eaLnBrk="0" fontAlgn="base" hangingPunct="0">
              <a:spcBef>
                <a:spcPct val="0"/>
              </a:spcBef>
              <a:spcAft>
                <a:spcPct val="0"/>
              </a:spcAft>
              <a:defRPr sz="2000">
                <a:solidFill>
                  <a:schemeClr val="tx1"/>
                </a:solidFill>
                <a:latin typeface="Arial" charset="0"/>
                <a:ea typeface="ＭＳ Ｐゴシック" charset="0"/>
              </a:defRPr>
            </a:lvl7pPr>
            <a:lvl8pPr marL="1371600" eaLnBrk="0" fontAlgn="base" hangingPunct="0">
              <a:spcBef>
                <a:spcPct val="0"/>
              </a:spcBef>
              <a:spcAft>
                <a:spcPct val="0"/>
              </a:spcAft>
              <a:defRPr sz="2000">
                <a:solidFill>
                  <a:schemeClr val="tx1"/>
                </a:solidFill>
                <a:latin typeface="Arial" charset="0"/>
                <a:ea typeface="ＭＳ Ｐゴシック" charset="0"/>
              </a:defRPr>
            </a:lvl8pPr>
            <a:lvl9pPr marL="1828800" eaLnBrk="0" fontAlgn="base" hangingPunct="0">
              <a:spcBef>
                <a:spcPct val="0"/>
              </a:spcBef>
              <a:spcAft>
                <a:spcPct val="0"/>
              </a:spcAft>
              <a:defRPr sz="2000">
                <a:solidFill>
                  <a:schemeClr val="tx1"/>
                </a:solidFill>
                <a:latin typeface="Arial" charset="0"/>
                <a:ea typeface="ＭＳ Ｐゴシック" charset="0"/>
              </a:defRPr>
            </a:lvl9pPr>
          </a:lstStyle>
          <a:p>
            <a:pPr algn="l"/>
            <a:r>
              <a:rPr lang="en-US" sz="900" b="0" noProof="0" dirty="0" smtClean="0">
                <a:solidFill>
                  <a:schemeClr val="bg2"/>
                </a:solidFill>
              </a:rPr>
              <a:t>Chair of Media </a:t>
            </a:r>
            <a:r>
              <a:rPr lang="en-US" sz="900" b="0" noProof="0" dirty="0" smtClean="0">
                <a:solidFill>
                  <a:schemeClr val="bg2"/>
                </a:solidFill>
              </a:rPr>
              <a:t>Technology</a:t>
            </a:r>
          </a:p>
          <a:p>
            <a:pPr algn="l"/>
            <a:r>
              <a:rPr lang="en-US" sz="900" b="0" noProof="0" dirty="0" smtClean="0">
                <a:solidFill>
                  <a:schemeClr val="bg2"/>
                </a:solidFill>
              </a:rPr>
              <a:t>Prof. Dr.-</a:t>
            </a:r>
            <a:r>
              <a:rPr lang="en-US" sz="900" b="0" noProof="0" dirty="0" err="1" smtClean="0">
                <a:solidFill>
                  <a:schemeClr val="bg2"/>
                </a:solidFill>
              </a:rPr>
              <a:t>Ing</a:t>
            </a:r>
            <a:r>
              <a:rPr lang="en-US" sz="900" b="0" noProof="0" dirty="0" smtClean="0">
                <a:solidFill>
                  <a:schemeClr val="bg2"/>
                </a:solidFill>
              </a:rPr>
              <a:t>. </a:t>
            </a:r>
            <a:r>
              <a:rPr lang="en-US" sz="900" b="0" noProof="0" dirty="0" err="1" smtClean="0">
                <a:solidFill>
                  <a:schemeClr val="bg2"/>
                </a:solidFill>
              </a:rPr>
              <a:t>Eckehard</a:t>
            </a:r>
            <a:r>
              <a:rPr lang="en-US" sz="900" b="0" noProof="0" dirty="0" smtClean="0">
                <a:solidFill>
                  <a:schemeClr val="bg2"/>
                </a:solidFill>
              </a:rPr>
              <a:t> Steinbach</a:t>
            </a:r>
            <a:endParaRPr lang="en-US" sz="900" b="0" noProof="0" dirty="0">
              <a:solidFill>
                <a:schemeClr val="bg2"/>
              </a:solidFill>
            </a:endParaRPr>
          </a:p>
        </p:txBody>
      </p:sp>
      <p:pic>
        <p:nvPicPr>
          <p:cNvPr id="42" name="Picture 29" descr="U:\Logos und Grafiken\TUMLogo_oZ_Vollfl_blau_RGB.png"/>
          <p:cNvPicPr>
            <a:picLocks noChangeAspect="1" noChangeArrowheads="1"/>
          </p:cNvPicPr>
          <p:nvPr userDrawn="1"/>
        </p:nvPicPr>
        <p:blipFill>
          <a:blip r:embed="rId6" cstate="email">
            <a:extLst>
              <a:ext uri="{28A0092B-C50C-407E-A947-70E740481C1C}">
                <a14:useLocalDpi xmlns:a14="http://schemas.microsoft.com/office/drawing/2010/main" val="0"/>
              </a:ext>
            </a:extLst>
          </a:blip>
          <a:srcRect/>
          <a:stretch>
            <a:fillRect/>
          </a:stretch>
        </p:blipFill>
        <p:spPr bwMode="auto">
          <a:xfrm>
            <a:off x="8039778" y="325438"/>
            <a:ext cx="604440" cy="319088"/>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3695" r:id="rId1"/>
    <p:sldLayoutId id="2147483693" r:id="rId2"/>
    <p:sldLayoutId id="2147483694" r:id="rId3"/>
  </p:sldLayoutIdLst>
  <p:txStyles>
    <p:titleStyle>
      <a:lvl1pPr algn="l" rtl="0" eaLnBrk="0" fontAlgn="base" hangingPunct="0">
        <a:spcBef>
          <a:spcPct val="0"/>
        </a:spcBef>
        <a:spcAft>
          <a:spcPct val="0"/>
        </a:spcAft>
        <a:defRPr sz="2800" b="0">
          <a:solidFill>
            <a:schemeClr val="tx1"/>
          </a:solidFill>
          <a:latin typeface="+mj-lt"/>
          <a:ea typeface="ＭＳ Ｐゴシック" pitchFamily="-65" charset="-128"/>
          <a:cs typeface="ＭＳ Ｐゴシック" pitchFamily="18" charset="-128"/>
        </a:defRPr>
      </a:lvl1pPr>
      <a:lvl2pPr algn="l" rtl="0" eaLnBrk="0" fontAlgn="base" hangingPunct="0">
        <a:spcBef>
          <a:spcPct val="0"/>
        </a:spcBef>
        <a:spcAft>
          <a:spcPct val="0"/>
        </a:spcAft>
        <a:defRPr sz="3200" b="1">
          <a:solidFill>
            <a:schemeClr val="tx1"/>
          </a:solidFill>
          <a:latin typeface="Arial" pitchFamily="34" charset="0"/>
          <a:ea typeface="ＭＳ Ｐゴシック" pitchFamily="-65" charset="-128"/>
          <a:cs typeface="ＭＳ Ｐゴシック" pitchFamily="18" charset="-128"/>
        </a:defRPr>
      </a:lvl2pPr>
      <a:lvl3pPr algn="l" rtl="0" eaLnBrk="0" fontAlgn="base" hangingPunct="0">
        <a:spcBef>
          <a:spcPct val="0"/>
        </a:spcBef>
        <a:spcAft>
          <a:spcPct val="0"/>
        </a:spcAft>
        <a:defRPr sz="3200" b="1">
          <a:solidFill>
            <a:schemeClr val="tx1"/>
          </a:solidFill>
          <a:latin typeface="Arial" pitchFamily="34" charset="0"/>
          <a:ea typeface="ＭＳ Ｐゴシック" pitchFamily="-65" charset="-128"/>
          <a:cs typeface="ＭＳ Ｐゴシック" pitchFamily="18" charset="-128"/>
        </a:defRPr>
      </a:lvl3pPr>
      <a:lvl4pPr algn="l" rtl="0" eaLnBrk="0" fontAlgn="base" hangingPunct="0">
        <a:spcBef>
          <a:spcPct val="0"/>
        </a:spcBef>
        <a:spcAft>
          <a:spcPct val="0"/>
        </a:spcAft>
        <a:defRPr sz="3200" b="1">
          <a:solidFill>
            <a:schemeClr val="tx1"/>
          </a:solidFill>
          <a:latin typeface="Arial" pitchFamily="34" charset="0"/>
          <a:ea typeface="ＭＳ Ｐゴシック" pitchFamily="-65" charset="-128"/>
          <a:cs typeface="ＭＳ Ｐゴシック" pitchFamily="18" charset="-128"/>
        </a:defRPr>
      </a:lvl4pPr>
      <a:lvl5pPr algn="l" rtl="0" eaLnBrk="0" fontAlgn="base" hangingPunct="0">
        <a:spcBef>
          <a:spcPct val="0"/>
        </a:spcBef>
        <a:spcAft>
          <a:spcPct val="0"/>
        </a:spcAft>
        <a:defRPr sz="3200" b="1">
          <a:solidFill>
            <a:schemeClr val="tx1"/>
          </a:solidFill>
          <a:latin typeface="Arial" pitchFamily="34" charset="0"/>
          <a:ea typeface="ＭＳ Ｐゴシック" pitchFamily="-65" charset="-128"/>
          <a:cs typeface="ＭＳ Ｐゴシック" pitchFamily="18" charset="-128"/>
        </a:defRPr>
      </a:lvl5pPr>
      <a:lvl6pPr marL="457200" algn="l" rtl="0" eaLnBrk="1" fontAlgn="base" hangingPunct="1">
        <a:spcBef>
          <a:spcPct val="0"/>
        </a:spcBef>
        <a:spcAft>
          <a:spcPct val="0"/>
        </a:spcAft>
        <a:defRPr sz="2400" b="1">
          <a:solidFill>
            <a:schemeClr val="tx1"/>
          </a:solidFill>
          <a:latin typeface="Arial" pitchFamily="34" charset="0"/>
        </a:defRPr>
      </a:lvl6pPr>
      <a:lvl7pPr marL="914400" algn="l" rtl="0" eaLnBrk="1" fontAlgn="base" hangingPunct="1">
        <a:spcBef>
          <a:spcPct val="0"/>
        </a:spcBef>
        <a:spcAft>
          <a:spcPct val="0"/>
        </a:spcAft>
        <a:defRPr sz="2400" b="1">
          <a:solidFill>
            <a:schemeClr val="tx1"/>
          </a:solidFill>
          <a:latin typeface="Arial" pitchFamily="34" charset="0"/>
        </a:defRPr>
      </a:lvl7pPr>
      <a:lvl8pPr marL="1371600" algn="l" rtl="0" eaLnBrk="1" fontAlgn="base" hangingPunct="1">
        <a:spcBef>
          <a:spcPct val="0"/>
        </a:spcBef>
        <a:spcAft>
          <a:spcPct val="0"/>
        </a:spcAft>
        <a:defRPr sz="2400" b="1">
          <a:solidFill>
            <a:schemeClr val="tx1"/>
          </a:solidFill>
          <a:latin typeface="Arial" pitchFamily="34" charset="0"/>
        </a:defRPr>
      </a:lvl8pPr>
      <a:lvl9pPr marL="1828800" algn="l" rtl="0" eaLnBrk="1" fontAlgn="base" hangingPunct="1">
        <a:spcBef>
          <a:spcPct val="0"/>
        </a:spcBef>
        <a:spcAft>
          <a:spcPct val="0"/>
        </a:spcAft>
        <a:defRPr sz="2400" b="1">
          <a:solidFill>
            <a:schemeClr val="tx1"/>
          </a:solidFill>
          <a:latin typeface="Arial" pitchFamily="34" charset="0"/>
        </a:defRPr>
      </a:lvl9pPr>
    </p:titleStyle>
    <p:bodyStyle>
      <a:lvl1pPr marL="266700" indent="-266700" algn="l" rtl="0" eaLnBrk="0" fontAlgn="base" hangingPunct="0">
        <a:spcBef>
          <a:spcPct val="20000"/>
        </a:spcBef>
        <a:spcAft>
          <a:spcPct val="0"/>
        </a:spcAft>
        <a:buClr>
          <a:schemeClr val="tx2"/>
        </a:buClr>
        <a:buFont typeface="Wingdings" charset="2"/>
        <a:buChar char="§"/>
        <a:defRPr sz="2000" b="0">
          <a:solidFill>
            <a:schemeClr val="tx1"/>
          </a:solidFill>
          <a:latin typeface="+mn-lt"/>
          <a:ea typeface="ＭＳ Ｐゴシック" pitchFamily="-65" charset="-128"/>
          <a:cs typeface="ＭＳ Ｐゴシック" pitchFamily="18" charset="-128"/>
        </a:defRPr>
      </a:lvl1pPr>
      <a:lvl2pPr marL="534988" indent="-268288" algn="l" rtl="0" eaLnBrk="0" fontAlgn="base" hangingPunct="0">
        <a:spcBef>
          <a:spcPct val="20000"/>
        </a:spcBef>
        <a:spcAft>
          <a:spcPct val="0"/>
        </a:spcAft>
        <a:buClr>
          <a:schemeClr val="tx2"/>
        </a:buClr>
        <a:buFont typeface="Lucida Grande"/>
        <a:buChar char="□"/>
        <a:defRPr sz="2000" b="0">
          <a:solidFill>
            <a:schemeClr val="tx1"/>
          </a:solidFill>
          <a:latin typeface="+mn-lt"/>
          <a:ea typeface="ＭＳ Ｐゴシック" pitchFamily="-65" charset="-128"/>
        </a:defRPr>
      </a:lvl2pPr>
      <a:lvl3pPr marL="801688" indent="-266700" algn="l" rtl="0" eaLnBrk="0" fontAlgn="base" hangingPunct="0">
        <a:spcBef>
          <a:spcPct val="20000"/>
        </a:spcBef>
        <a:spcAft>
          <a:spcPct val="0"/>
        </a:spcAft>
        <a:buClr>
          <a:schemeClr val="tx2"/>
        </a:buClr>
        <a:buFont typeface="Lucida Grande"/>
        <a:buChar char="□"/>
        <a:defRPr sz="2000" b="0">
          <a:solidFill>
            <a:schemeClr val="tx1"/>
          </a:solidFill>
          <a:latin typeface="+mn-lt"/>
          <a:ea typeface="ＭＳ Ｐゴシック" pitchFamily="-65" charset="-128"/>
        </a:defRPr>
      </a:lvl3pPr>
      <a:lvl4pPr marL="1079500" indent="-277813" algn="l" rtl="0" eaLnBrk="0" fontAlgn="base" hangingPunct="0">
        <a:spcBef>
          <a:spcPct val="20000"/>
        </a:spcBef>
        <a:spcAft>
          <a:spcPct val="0"/>
        </a:spcAft>
        <a:buClr>
          <a:schemeClr val="tx2"/>
        </a:buClr>
        <a:buFont typeface="Lucida Grande"/>
        <a:buChar char="□"/>
        <a:defRPr sz="2000" b="0">
          <a:solidFill>
            <a:schemeClr val="tx1"/>
          </a:solidFill>
          <a:latin typeface="+mn-lt"/>
          <a:ea typeface="ＭＳ Ｐゴシック" pitchFamily="-65" charset="-128"/>
        </a:defRPr>
      </a:lvl4pPr>
      <a:lvl5pPr marL="1346200" indent="-266700" algn="l" rtl="0" eaLnBrk="0" fontAlgn="base" hangingPunct="0">
        <a:spcBef>
          <a:spcPct val="20000"/>
        </a:spcBef>
        <a:spcAft>
          <a:spcPct val="0"/>
        </a:spcAft>
        <a:buClr>
          <a:schemeClr val="tx2"/>
        </a:buClr>
        <a:buFont typeface="Lucida Grande"/>
        <a:buChar char="□"/>
        <a:defRPr sz="2000" b="0">
          <a:solidFill>
            <a:schemeClr val="tx1"/>
          </a:solidFill>
          <a:latin typeface="+mn-lt"/>
          <a:ea typeface="ＭＳ Ｐゴシック" pitchFamily="-65" charset="-128"/>
        </a:defRPr>
      </a:lvl5pPr>
      <a:lvl6pPr marL="2438400" indent="-228600" algn="l" rtl="0" eaLnBrk="1" fontAlgn="base" hangingPunct="1">
        <a:spcBef>
          <a:spcPct val="20000"/>
        </a:spcBef>
        <a:spcAft>
          <a:spcPct val="0"/>
        </a:spcAft>
        <a:buChar char="»"/>
        <a:defRPr sz="1400">
          <a:solidFill>
            <a:schemeClr val="tx1"/>
          </a:solidFill>
          <a:latin typeface="+mn-lt"/>
        </a:defRPr>
      </a:lvl6pPr>
      <a:lvl7pPr marL="2895600" indent="-228600" algn="l" rtl="0" eaLnBrk="1" fontAlgn="base" hangingPunct="1">
        <a:spcBef>
          <a:spcPct val="20000"/>
        </a:spcBef>
        <a:spcAft>
          <a:spcPct val="0"/>
        </a:spcAft>
        <a:buChar char="»"/>
        <a:defRPr sz="1400">
          <a:solidFill>
            <a:schemeClr val="tx1"/>
          </a:solidFill>
          <a:latin typeface="+mn-lt"/>
        </a:defRPr>
      </a:lvl7pPr>
      <a:lvl8pPr marL="3352800" indent="-228600" algn="l" rtl="0" eaLnBrk="1" fontAlgn="base" hangingPunct="1">
        <a:spcBef>
          <a:spcPct val="20000"/>
        </a:spcBef>
        <a:spcAft>
          <a:spcPct val="0"/>
        </a:spcAft>
        <a:buChar char="»"/>
        <a:defRPr sz="1400">
          <a:solidFill>
            <a:schemeClr val="tx1"/>
          </a:solidFill>
          <a:latin typeface="+mn-lt"/>
        </a:defRPr>
      </a:lvl8pPr>
      <a:lvl9pPr marL="3810000" indent="-228600" algn="l" rtl="0" eaLnBrk="1" fontAlgn="base" hangingPunct="1">
        <a:spcBef>
          <a:spcPct val="20000"/>
        </a:spcBef>
        <a:spcAft>
          <a:spcPct val="0"/>
        </a:spcAft>
        <a:buChar char="»"/>
        <a:defRPr sz="14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FLEX-UF: Content-Adaptive Early Exit for DCVC-UF</a:t>
            </a:r>
          </a:p>
        </p:txBody>
      </p:sp>
      <p:sp>
        <p:nvSpPr>
          <p:cNvPr id="3" name="Subtitle 2"/>
          <p:cNvSpPr>
            <a:spLocks noGrp="1"/>
          </p:cNvSpPr>
          <p:nvPr>
            <p:ph type="subTitle" idx="1"/>
          </p:nvPr>
        </p:nvSpPr>
        <p:spPr/>
        <p:txBody>
          <a:bodyPr/>
          <a:lstStyle/>
          <a:p>
            <a:r>
              <a:t>Decoder compute saved at a measured cost in quality</a:t>
            </a:r>
          </a:p>
          <a:p>
            <a:r>
              <a:t>Chair of Media Technology · TUM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Problem and goal</a:t>
            </a:r>
          </a:p>
        </p:txBody>
      </p:sp>
      <p:sp>
        <p:nvSpPr>
          <p:cNvPr id="3" name="Content Placeholder 2"/>
          <p:cNvSpPr>
            <a:spLocks noGrp="1"/>
          </p:cNvSpPr>
          <p:nvPr>
            <p:ph idx="1"/>
          </p:nvPr>
        </p:nvSpPr>
        <p:spPr>
          <a:xfrm>
            <a:off x="508000" y="1417320"/>
            <a:ext cx="8128000" cy="2306320"/>
          </a:xfrm>
        </p:spPr>
        <p:txBody>
          <a:bodyPr/>
          <a:lstStyle/>
          <a:p>
            <a:pPr/>
            <a:r>
              <a:rPr sz="1300" b="1">
                <a:solidFill>
                  <a:srgbClr val="0065BD"/>
                </a:solidFill>
              </a:rPr>
              <a:t>DCVC-UF's intra decoder: 453.5 GMAC per 1080p frame</a:t>
            </a:r>
          </a:p>
          <a:p>
            <a:pPr lvl="1"/>
            <a:r>
              <a:rPr sz="1100" b="0"/>
              <a:t>12 identical DepthConvBlocks = 89.4% of it</a:t>
            </a:r>
          </a:p>
          <a:p>
            <a:pPr lvl="1"/>
            <a:r>
              <a:rPr sz="1100" b="0"/>
              <a:t>every patch pays the same, however easy it is</a:t>
            </a:r>
          </a:p>
          <a:p>
            <a:pPr/>
            <a:r>
              <a:rPr sz="1300" b="1">
                <a:solidFill>
                  <a:srgbClr val="0065BD"/>
                </a:solidFill>
              </a:rPr>
              <a:t>Goal: spend less compute where the content allows</a:t>
            </a:r>
          </a:p>
          <a:p>
            <a:pPr lvl="1"/>
            <a:r>
              <a:rPr sz="1100" b="0"/>
              <a:t>target set with the group: 30–40% saved at ≤0.1 dB</a:t>
            </a:r>
          </a:p>
          <a:p>
            <a:pPr/>
            <a:r>
              <a:rPr sz="1300" b="1">
                <a:solidFill>
                  <a:srgbClr val="0065BD"/>
                </a:solidFill>
              </a:rPr>
              <a:t>Constraint that shapes everything: the reference is the RELEASED model</a:t>
            </a:r>
          </a:p>
          <a:p>
            <a:pPr lvl="1"/>
            <a:r>
              <a:rPr sz="1100" b="0"/>
              <a:t>encoder, hyperprior, entropy model frozen → identical bitstream</a:t>
            </a:r>
          </a:p>
          <a:p>
            <a:pPr lvl="1"/>
            <a:r>
              <a:rPr sz="1100" b="0"/>
              <a:t>so any measured difference is the decoder alone</a:t>
            </a:r>
          </a:p>
        </p:txBody>
      </p:sp>
      <p:pic>
        <p:nvPicPr>
          <p:cNvPr id="4" name="Picture 3" descr="nf_macs.png"/>
          <p:cNvPicPr>
            <a:picLocks noChangeAspect="1"/>
          </p:cNvPicPr>
          <p:nvPr/>
        </p:nvPicPr>
        <p:blipFill>
          <a:blip r:embed="rId2"/>
          <a:stretch>
            <a:fillRect/>
          </a:stretch>
        </p:blipFill>
        <p:spPr>
          <a:xfrm>
            <a:off x="740869" y="3888231"/>
            <a:ext cx="7662261" cy="255828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a ladder of exits</a:t>
            </a:r>
          </a:p>
        </p:txBody>
      </p:sp>
      <p:sp>
        <p:nvSpPr>
          <p:cNvPr id="3" name="Content Placeholder 2"/>
          <p:cNvSpPr>
            <a:spLocks noGrp="1"/>
          </p:cNvSpPr>
          <p:nvPr>
            <p:ph idx="1"/>
          </p:nvPr>
        </p:nvSpPr>
        <p:spPr>
          <a:xfrm>
            <a:off x="508000" y="1417320"/>
            <a:ext cx="8128000" cy="1036320"/>
          </a:xfrm>
        </p:spPr>
        <p:txBody>
          <a:bodyPr/>
          <a:lstStyle/>
          <a:p>
            <a:pPr/>
            <a:r>
              <a:rPr sz="1300" b="1">
                <a:solidFill>
                  <a:srgbClr val="0065BD"/>
                </a:solidFill>
              </a:rPr>
              <a:t>Shared stem runs full-frame → no seams; the rest runs per tile</a:t>
            </a:r>
          </a:p>
          <a:p>
            <a:pPr/>
            <a:r>
              <a:rPr sz="1300" b="0"/>
              <a:t>Each exit has a zero-initialised 1×1 adapter, then the shared head</a:t>
            </a:r>
          </a:p>
          <a:p>
            <a:pPr/>
            <a:r>
              <a:rPr sz="1300" b="0"/>
              <a:t>Pointwise on purpose: a 1×1 adds no receptive field, so no seam cost</a:t>
            </a:r>
          </a:p>
        </p:txBody>
      </p:sp>
      <p:pic>
        <p:nvPicPr>
          <p:cNvPr id="4" name="Picture 3" descr="nf_arch.png"/>
          <p:cNvPicPr>
            <a:picLocks noChangeAspect="1"/>
          </p:cNvPicPr>
          <p:nvPr/>
        </p:nvPicPr>
        <p:blipFill>
          <a:blip r:embed="rId2"/>
          <a:stretch>
            <a:fillRect/>
          </a:stretch>
        </p:blipFill>
        <p:spPr>
          <a:xfrm>
            <a:off x="411480" y="2618232"/>
            <a:ext cx="8321040" cy="2012781"/>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the router actually does, on a frame</a:t>
            </a:r>
          </a:p>
        </p:txBody>
      </p:sp>
      <p:sp>
        <p:nvSpPr>
          <p:cNvPr id="3" name="Content Placeholder 2"/>
          <p:cNvSpPr>
            <a:spLocks noGrp="1"/>
          </p:cNvSpPr>
          <p:nvPr>
            <p:ph idx="1"/>
          </p:nvPr>
        </p:nvSpPr>
        <p:spPr>
          <a:xfrm>
            <a:off x="508000" y="1417320"/>
            <a:ext cx="8128000" cy="2788920"/>
          </a:xfrm>
        </p:spPr>
        <p:txBody>
          <a:bodyPr/>
          <a:lstStyle/>
          <a:p>
            <a:pPr/>
            <a:r>
              <a:rPr sz="1100" b="1">
                <a:solidFill>
                  <a:srgbClr val="0065BD"/>
                </a:solidFill>
              </a:rPr>
              <a:t>Bosphorus, qp32, the real Lagrangian assignment at the 0.1 dB budget — 40 tiles of 256px, 33.4% saved at 0.098 dB</a:t>
            </a:r>
          </a:p>
          <a:p>
            <a:pPr/>
            <a:r>
              <a:rPr sz="1100" b="1">
                <a:solidFill>
                  <a:srgbClr val="0065BD"/>
                </a:solidFill>
              </a:rPr>
              <a:t>The boat takes exit 4 (13% saved). The water and the sky take exit 2 (42%). The shoreline band in between takes exit 3.</a:t>
            </a:r>
          </a:p>
          <a:p>
            <a:pPr/>
            <a:r>
              <a:rPr sz="1100" b="1">
                <a:solidFill>
                  <a:srgbClr val="0065BD"/>
                </a:solidFill>
              </a:rPr>
              <a:t>This is the whole idea in one picture: the frame is not uniformly hard, and a decoder that spends uniformly is overpaying on most of it</a:t>
            </a:r>
          </a:p>
          <a:p>
            <a:pPr lvl="1"/>
            <a:r>
              <a:rPr sz="900" b="0"/>
              <a:t>panel c is the dB each tile pays against ITS OWN reference error, not against the frame mean — dividing by the mean makes easy tiles read as better than the release, which no exit can be</a:t>
            </a:r>
          </a:p>
          <a:p>
            <a:pPr/>
            <a:r>
              <a:rPr sz="1100" b="1">
                <a:solidFill>
                  <a:srgbClr val="0065BD"/>
                </a:solidFill>
              </a:rPr>
              <a:t>Closest relative in the literature is ClassSR, which routes patches to differently sized SR branches. The difference: it picks a network per patch for a fixed cost target; we pick a DEPTH per tile inside one network, for a fixed quality target, and the bitstream never changes.</a:t>
            </a:r>
          </a:p>
        </p:txBody>
      </p:sp>
      <p:pic>
        <p:nvPicPr>
          <p:cNvPr id="4" name="Picture 3" descr="exit_map.png"/>
          <p:cNvPicPr>
            <a:picLocks noChangeAspect="1"/>
          </p:cNvPicPr>
          <p:nvPr/>
        </p:nvPicPr>
        <p:blipFill>
          <a:blip r:embed="rId2"/>
          <a:stretch>
            <a:fillRect/>
          </a:stretch>
        </p:blipFill>
        <p:spPr>
          <a:xfrm>
            <a:off x="986721" y="4370831"/>
            <a:ext cx="7170558" cy="207568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start AT DCVC-UF, not near it</a:t>
            </a:r>
          </a:p>
        </p:txBody>
      </p:sp>
      <p:sp>
        <p:nvSpPr>
          <p:cNvPr id="3" name="Content Placeholder 2"/>
          <p:cNvSpPr>
            <a:spLocks noGrp="1"/>
          </p:cNvSpPr>
          <p:nvPr>
            <p:ph idx="1"/>
          </p:nvPr>
        </p:nvSpPr>
        <p:spPr>
          <a:xfrm>
            <a:off x="508000" y="1417320"/>
            <a:ext cx="8128000" cy="2687320"/>
          </a:xfrm>
        </p:spPr>
        <p:txBody>
          <a:bodyPr/>
          <a:lstStyle/>
          <a:p>
            <a:pPr/>
            <a:r>
              <a:rPr sz="1200" b="1">
                <a:solidFill>
                  <a:srgbClr val="0065BD"/>
                </a:solidFill>
              </a:rPr>
              <a:t>The released weights are re-expressed in ladder form by a key remap</a:t>
            </a:r>
          </a:p>
          <a:p>
            <a:pPr lvl="1"/>
            <a:r>
              <a:rPr sz="1000" b="0"/>
              <a:t>dec_1.0→upsample, dec_1.n→groups.g.i, dec_2→head</a:t>
            </a:r>
          </a:p>
          <a:p>
            <a:pPr lvl="1"/>
            <a:r>
              <a:rPr sz="1000" b="0"/>
              <a:t>the remap is a bijection over 143 tensors (asserted in tests)</a:t>
            </a:r>
          </a:p>
          <a:p>
            <a:pPr/>
            <a:r>
              <a:rPr sz="1200" b="0"/>
              <a:t>Adapters and seam repair are zero-init, i.e. the identity</a:t>
            </a:r>
          </a:p>
          <a:p>
            <a:pPr/>
            <a:r>
              <a:rPr sz="1200" b="1">
                <a:solidFill>
                  <a:srgbClr val="0065BD"/>
                </a:solidFill>
              </a:rPr>
              <a:t>So at step 0, with no training at all:</a:t>
            </a:r>
          </a:p>
          <a:p>
            <a:pPr lvl="1"/>
            <a:r>
              <a:rPr sz="1000" b="0"/>
              <a:t>released DCVC-UF vs our deepest exit → max|diff| = 0.0</a:t>
            </a:r>
          </a:p>
          <a:p>
            <a:pPr/>
            <a:r>
              <a:rPr sz="1200" b="1">
                <a:solidFill>
                  <a:srgbClr val="0065BD"/>
                </a:solidFill>
              </a:rPr>
              <a:t>Training does not have to reach DCVC-UF. It has to (a) lift the shallow exits and (b) not damage the deepest one.</a:t>
            </a:r>
          </a:p>
          <a:p>
            <a:pPr/>
            <a:r>
              <a:rPr sz="1200" b="0"/>
              <a:t>From-scratch runs were abandoned for exactly this: after 6 epochs their anchor sat 1.49 dB below the release and was not closing.</a:t>
            </a:r>
          </a:p>
        </p:txBody>
      </p:sp>
      <p:pic>
        <p:nvPicPr>
          <p:cNvPr id="4" name="Picture 3" descr="nf_warmstart.png"/>
          <p:cNvPicPr>
            <a:picLocks noChangeAspect="1"/>
          </p:cNvPicPr>
          <p:nvPr/>
        </p:nvPicPr>
        <p:blipFill>
          <a:blip r:embed="rId2"/>
          <a:stretch>
            <a:fillRect/>
          </a:stretch>
        </p:blipFill>
        <p:spPr>
          <a:xfrm>
            <a:off x="1640531" y="4269232"/>
            <a:ext cx="5862938" cy="217728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Training: the recipe, checked not claimed</a:t>
            </a:r>
          </a:p>
        </p:txBody>
      </p:sp>
      <p:sp>
        <p:nvSpPr>
          <p:cNvPr id="3" name="Content Placeholder 2"/>
          <p:cNvSpPr>
            <a:spLocks noGrp="1"/>
          </p:cNvSpPr>
          <p:nvPr>
            <p:ph idx="1"/>
          </p:nvPr>
        </p:nvSpPr>
        <p:spPr>
          <a:xfrm>
            <a:off x="508000" y="1417320"/>
            <a:ext cx="8128000" cy="3931920"/>
          </a:xfrm>
        </p:spPr>
        <p:txBody>
          <a:bodyPr/>
          <a:lstStyle/>
          <a:p>
            <a:pPr/>
            <a:r>
              <a:rPr sz="1100" b="1">
                <a:solidFill>
                  <a:srgbClr val="0065BD"/>
                </a:solidFill>
              </a:rPr>
              <a:t>scripts/verify_recipe.py compares each item against ~/DCVC/train_image.py and exits non-zero on a mismatch</a:t>
            </a:r>
          </a:p>
          <a:p>
            <a:pPr/>
            <a:r>
              <a:rPr sz="1100" b="1">
                <a:solidFill>
                  <a:srgbClr val="0065BD"/>
                </a:solidFill>
              </a:rPr>
              <a:t>Deepest exit vs the release, same tiles and same warm start: BEST -0.003 / -0.016 / -0.033 dB against VERBATIM's -0.092 / -0.127 / -0.169 dB at qp0/32/63. VERBATIM's drift alone is 1.7× the 0.1 dB budget, so the target is unreachable there at any saving — the anchor term is a precondition, not a refinement</a:t>
            </a:r>
          </a:p>
          <a:p>
            <a:pPr lvl="1"/>
            <a:r>
              <a:rPr sz="900" b="0"/>
              <a:t>Saving at 0.1 dB across the three runs that share an architecture — anchor 0: unreachable at every rate; anchor 1: 5/4/4/3/3%; anchor 10: 42/42/42/42/42%. CONTROL→BEST changes four things at once, so that step is the bundle, not the anchor alone</a:t>
            </a:r>
          </a:p>
          <a:p>
            <a:pPr lvl="1"/>
            <a:r>
              <a:rPr sz="900" b="0"/>
              <a:t>CONTROL over its SECOND epoch, per-exit dB vs the release at qp63 (below): saving at 0.1 dB fell 13.3% -&gt; 3.8% at qp0, damage growing the shallower the exit. VERBATIM, which carries even less, IMPROVED over the same boundary — so this is CONTROL's, not 'training without the additions', and the cause is still open</a:t>
            </a:r>
          </a:p>
          <a:p>
            <a:pPr/>
            <a:r>
              <a:rPr sz="1100" b="1">
                <a:solidFill>
                  <a:srgbClr val="0065BD"/>
                </a:solidFill>
              </a:rPr>
              <a:t>Deliberate additions, listed rather than hidden: --epoch_offset, --anchor_weight, --new_lr_scale, --freeze_encoder</a:t>
            </a:r>
          </a:p>
          <a:p>
            <a:pPr/>
            <a:r>
              <a:rPr sz="1100" b="1">
                <a:solidFill>
                  <a:srgbClr val="0065BD"/>
                </a:solidFill>
              </a:rPr>
              <a:t>VERBATIM is their recipe with NONE of them, effective batch 16 by accumulation — the control both rows above are measured against</a:t>
            </a:r>
          </a:p>
        </p:txBody>
      </p:sp>
      <p:pic>
        <p:nvPicPr>
          <p:cNvPr id="4" name="Picture 3" descr="nf_collapse.png"/>
          <p:cNvPicPr>
            <a:picLocks noChangeAspect="1"/>
          </p:cNvPicPr>
          <p:nvPr/>
        </p:nvPicPr>
        <p:blipFill>
          <a:blip r:embed="rId2"/>
          <a:stretch>
            <a:fillRect/>
          </a:stretch>
        </p:blipFill>
        <p:spPr>
          <a:xfrm>
            <a:off x="2829009" y="5513831"/>
            <a:ext cx="3485981" cy="93268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training actually went</a:t>
            </a:r>
          </a:p>
        </p:txBody>
      </p:sp>
      <p:sp>
        <p:nvSpPr>
          <p:cNvPr id="3" name="Content Placeholder 2"/>
          <p:cNvSpPr>
            <a:spLocks noGrp="1"/>
          </p:cNvSpPr>
          <p:nvPr>
            <p:ph idx="1"/>
          </p:nvPr>
        </p:nvSpPr>
        <p:spPr>
          <a:xfrm>
            <a:off x="508000" y="1417320"/>
            <a:ext cx="8128000" cy="3246120"/>
          </a:xfrm>
        </p:spPr>
        <p:txBody>
          <a:bodyPr/>
          <a:lstStyle/>
          <a:p>
            <a:pPr/>
            <a:r>
              <a:rPr sz="1100" b="1">
                <a:solidFill>
                  <a:srgbClr val="0065BD"/>
                </a:solidFill>
              </a:rPr>
              <a:t>The loss is flat from about step 5,000 and stays flat through the epoch. It would be easy to call that converged. It is not:</a:t>
            </a:r>
          </a:p>
          <a:p>
            <a:pPr lvl="1"/>
            <a:r>
              <a:rPr sz="900" b="0"/>
              <a:t>loss = lambda*MSE + bpp, and a random 256px crop's bitrate swings twofold between consecutive batches. corr(loss, batch bpp) = 0.97 — the curve is mostly reporting what the dataloader handed the model</a:t>
            </a:r>
          </a:p>
          <a:p>
            <a:pPr/>
            <a:r>
              <a:rPr sz="1100" b="1">
                <a:solidFill>
                  <a:srgbClr val="0065BD"/>
                </a:solidFill>
              </a:rPr>
              <a:t>Panel b: the exits stay ordered and about 1 dB apart on the training batch — the ladder is healthy, nothing has collapsed onto its neighbour</a:t>
            </a:r>
          </a:p>
          <a:p>
            <a:pPr/>
            <a:r>
              <a:rPr sz="1100" b="1">
                <a:solidFill>
                  <a:srgbClr val="0065BD"/>
                </a:solidFill>
              </a:rPr>
              <a:t>Panel c is the measurement that does answer it: compute saved on the SAME fixed CTC frames, one point per checkpoint. Still climbing at 20-24k steps (BEST128 11.2 to 12.6%, FINE12 15.0 to 16.8% at qp63)</a:t>
            </a:r>
          </a:p>
          <a:p>
            <a:pPr/>
            <a:r>
              <a:rPr sz="1100" b="1">
                <a:solidFill>
                  <a:srgbClr val="0065BD"/>
                </a:solidFill>
              </a:rPr>
              <a:t>So the stopping signal is the held-out measurement, not the loss — and every number in this deck is one checkpoint of a run that has not finished</a:t>
            </a:r>
          </a:p>
          <a:p>
            <a:pPr/>
            <a:r>
              <a:rPr sz="1100" b="0"/>
              <a:t>One epoch is 47,451 steps at batch 8; six runs share the machine, so an epoch costs 6-22 h wall-clock</a:t>
            </a:r>
          </a:p>
        </p:txBody>
      </p:sp>
      <p:pic>
        <p:nvPicPr>
          <p:cNvPr id="4" name="Picture 3" descr="training_BEST.png"/>
          <p:cNvPicPr>
            <a:picLocks noChangeAspect="1"/>
          </p:cNvPicPr>
          <p:nvPr/>
        </p:nvPicPr>
        <p:blipFill>
          <a:blip r:embed="rId2"/>
          <a:stretch>
            <a:fillRect/>
          </a:stretch>
        </p:blipFill>
        <p:spPr>
          <a:xfrm>
            <a:off x="1940145" y="4828031"/>
            <a:ext cx="5263709" cy="161848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anchor, and a ×4 error caught</a:t>
            </a:r>
          </a:p>
        </p:txBody>
      </p:sp>
      <p:sp>
        <p:nvSpPr>
          <p:cNvPr id="3" name="Content Placeholder 2"/>
          <p:cNvSpPr>
            <a:spLocks noGrp="1"/>
          </p:cNvSpPr>
          <p:nvPr>
            <p:ph idx="1"/>
          </p:nvPr>
        </p:nvSpPr>
        <p:spPr>
          <a:xfrm>
            <a:off x="508000" y="1417320"/>
            <a:ext cx="8128000" cy="1798320"/>
          </a:xfrm>
        </p:spPr>
        <p:txBody>
          <a:bodyPr/>
          <a:lstStyle/>
          <a:p>
            <a:pPr/>
            <a:r>
              <a:rPr sz="1300" b="1">
                <a:solidFill>
                  <a:srgbClr val="0065BD"/>
                </a:solidFill>
              </a:rPr>
              <a:t>Reading the schedule from epoch 0 applied the from-scratch lr to a converged model</a:t>
            </a:r>
          </a:p>
          <a:p>
            <a:pPr lvl="1"/>
            <a:r>
              <a:rPr sz="1100" b="0"/>
              <a:t>deepest exit fell 0.153 / 0.201 / 0.263 dB in ONE epoch (qp0/32/63)</a:t>
            </a:r>
          </a:p>
          <a:p>
            <a:pPr lvl="1"/>
            <a:r>
              <a:rPr sz="1100" b="0"/>
              <a:t>fixed to 0.025 / 0.051 / 0.074 by --epoch_offset 75 + --anchor_weight</a:t>
            </a:r>
          </a:p>
          <a:p>
            <a:pPr/>
            <a:r>
              <a:rPr sz="1300" b="1">
                <a:solidFill>
                  <a:srgbClr val="0065BD"/>
                </a:solidFill>
              </a:rPr>
              <a:t>Freezing the backbone gives exactly 0.000 — but collapses the ceiling from 27.3% to 11.5%, so training the trunk is mandatory</a:t>
            </a:r>
          </a:p>
        </p:txBody>
      </p:sp>
      <p:pic>
        <p:nvPicPr>
          <p:cNvPr id="4" name="Picture 3" descr="nf_anchor.png"/>
          <p:cNvPicPr>
            <a:picLocks noChangeAspect="1"/>
          </p:cNvPicPr>
          <p:nvPr/>
        </p:nvPicPr>
        <p:blipFill>
          <a:blip r:embed="rId2"/>
          <a:stretch>
            <a:fillRect/>
          </a:stretch>
        </p:blipFill>
        <p:spPr>
          <a:xfrm>
            <a:off x="464690" y="3380232"/>
            <a:ext cx="8214620" cy="3066287"/>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an exit costs, on one frame</a:t>
            </a:r>
          </a:p>
        </p:txBody>
      </p:sp>
      <p:sp>
        <p:nvSpPr>
          <p:cNvPr id="3" name="Content Placeholder 2"/>
          <p:cNvSpPr>
            <a:spLocks noGrp="1"/>
          </p:cNvSpPr>
          <p:nvPr>
            <p:ph idx="1"/>
          </p:nvPr>
        </p:nvSpPr>
        <p:spPr>
          <a:xfrm>
            <a:off x="508000" y="1417320"/>
            <a:ext cx="8128000" cy="1036320"/>
          </a:xfrm>
        </p:spPr>
        <p:txBody>
          <a:bodyPr/>
          <a:lstStyle/>
          <a:p>
            <a:pPr/>
            <a:r>
              <a:rPr sz="1300" b="1">
                <a:solidFill>
                  <a:srgbClr val="0065BD"/>
                </a:solidFill>
              </a:rPr>
              <a:t>Bosphorus 1080p, qp32, identical bitstream at every exit</a:t>
            </a:r>
          </a:p>
          <a:p>
            <a:pPr/>
            <a:r>
              <a:rPr sz="1300" b="0"/>
              <a:t>Error maps ×25: the damage is structured, concentrated on detail and on tile borders — which is what the seam work targets</a:t>
            </a:r>
          </a:p>
        </p:txBody>
      </p:sp>
      <p:pic>
        <p:nvPicPr>
          <p:cNvPr id="4" name="Picture 3" descr="nf_exits.png"/>
          <p:cNvPicPr>
            <a:picLocks noChangeAspect="1"/>
          </p:cNvPicPr>
          <p:nvPr/>
        </p:nvPicPr>
        <p:blipFill>
          <a:blip r:embed="rId2"/>
          <a:stretch>
            <a:fillRect/>
          </a:stretch>
        </p:blipFill>
        <p:spPr>
          <a:xfrm>
            <a:off x="411480" y="2618232"/>
            <a:ext cx="8321040" cy="3671737"/>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seam artefact, and what actually removed it</a:t>
            </a:r>
          </a:p>
        </p:txBody>
      </p:sp>
      <p:sp>
        <p:nvSpPr>
          <p:cNvPr id="3" name="Content Placeholder 2"/>
          <p:cNvSpPr>
            <a:spLocks noGrp="1"/>
          </p:cNvSpPr>
          <p:nvPr>
            <p:ph idx="1"/>
          </p:nvPr>
        </p:nvSpPr>
        <p:spPr>
          <a:xfrm>
            <a:off x="508000" y="1417320"/>
            <a:ext cx="8128000" cy="4160520"/>
          </a:xfrm>
        </p:spPr>
        <p:txBody>
          <a:bodyPr/>
          <a:lstStyle/>
          <a:p>
            <a:pPr/>
            <a:r>
              <a:rPr sz="1000" b="1">
                <a:solidFill>
                  <a:srgbClr val="0065BD"/>
                </a:solidFill>
              </a:rPr>
              <a:t>A tile decoded alone meets its border with invented values. Measured PURE — no early exit, every tile at full depth, so tiling is the only difference from a full-frame decode:</a:t>
            </a:r>
          </a:p>
          <a:p>
            <a:pPr lvl="1"/>
            <a:r>
              <a:rPr sz="800" b="0"/>
              <a:t>256px tiles, qp0/32/63 — zeros: 0.100 / 0.216 / 0.548 dB. At qp63 that is five times the entire 0.1 dB budget, before a single tile exits early</a:t>
            </a:r>
          </a:p>
          <a:p>
            <a:pPr/>
            <a:r>
              <a:rPr sz="1000" b="1">
                <a:solidFill>
                  <a:srgbClr val="0065BD"/>
                </a:solidFill>
              </a:rPr>
              <a:t>Three things fixed it, in order of contribution:</a:t>
            </a:r>
          </a:p>
          <a:p>
            <a:pPr lvl="1"/>
            <a:r>
              <a:rPr sz="800" b="0"/>
              <a:t>TILE SIZE — 256px instead of 128 halves it (1.167 -&gt; 0.548 at qp63): the seam is a perimeter effect</a:t>
            </a:r>
          </a:p>
          <a:p>
            <a:pPr lvl="1"/>
            <a:r>
              <a:rPr sz="800" b="0"/>
              <a:t>REPLICATE padding instead of zeros — 0.548 -&gt; 0.107 dB, an 80% cut for zero compute. 'linear' extrapolation was also tried and is WORSE (0.264), so a cleverer guess is not automatically a better one</a:t>
            </a:r>
          </a:p>
          <a:p>
            <a:pPr lvl="1"/>
            <a:r>
              <a:rPr sz="800" b="0"/>
              <a:t>GRID SEAM REPAIR — the tile lattice is known exactly, so the correction is gated by a learned P×P map indexed by position within a tile: f + G[i mod P, j mod P]·PW(WSiLU(DW3x3(f))). 256 scalars, 0.0007% of the decoder's parameters, initialised at exp(-d/tau) so the gate starts on the seam. Costs 0.95% of the decode</a:t>
            </a:r>
          </a:p>
          <a:p>
            <a:pPr/>
            <a:r>
              <a:rPr sz="1000" b="1">
                <a:solidFill>
                  <a:srgbClr val="0065BD"/>
                </a:solidFill>
              </a:rPr>
              <a:t>A plain 3×3 would have to INFER which pixels are on a boundary, and would apply its correction to the 77% that are clean interior — where any correction is damage. Telling it the grid is the whole idea.</a:t>
            </a:r>
          </a:p>
          <a:p>
            <a:pPr/>
            <a:r>
              <a:rPr sz="1000" b="1">
                <a:solidFill>
                  <a:srgbClr val="0065BD"/>
                </a:solidFill>
              </a:rPr>
              <a:t>arls (arXiv:2502.12300) is better still — 0.088 vs 0.107 at qp63 — and was REJECTED: +10.7% of decode wall-clock for +0.019 dB</a:t>
            </a:r>
          </a:p>
          <a:p>
            <a:pPr/>
            <a:r>
              <a:rPr sz="1000" b="1">
                <a:solidFill>
                  <a:srgbClr val="0065BD"/>
                </a:solidFill>
              </a:rPr>
              <a:t>Canvas coupling gives the 3×3 its real neighbour and reaches max|diff| = 0.0 against full-frame for +0.03%. It is implemented and measured, but tile_coupling=False in every run here — so it is an option, not what these results use.</a:t>
            </a:r>
          </a:p>
        </p:txBody>
      </p:sp>
      <p:pic>
        <p:nvPicPr>
          <p:cNvPr id="4" name="Picture 3" descr="nf_seam.png"/>
          <p:cNvPicPr>
            <a:picLocks noChangeAspect="1"/>
          </p:cNvPicPr>
          <p:nvPr/>
        </p:nvPicPr>
        <p:blipFill>
          <a:blip r:embed="rId2"/>
          <a:stretch>
            <a:fillRect/>
          </a:stretch>
        </p:blipFill>
        <p:spPr>
          <a:xfrm>
            <a:off x="3653971" y="5742431"/>
            <a:ext cx="1836057" cy="73152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seam artefact, formally  (1/5): where it comes from</a:t>
            </a:r>
          </a:p>
        </p:txBody>
      </p:sp>
      <p:sp>
        <p:nvSpPr>
          <p:cNvPr id="3" name="Content Placeholder 2"/>
          <p:cNvSpPr>
            <a:spLocks noGrp="1"/>
          </p:cNvSpPr>
          <p:nvPr>
            <p:ph idx="1"/>
          </p:nvPr>
        </p:nvSpPr>
        <p:spPr/>
        <p:txBody>
          <a:bodyPr/>
          <a:lstStyle/>
          <a:p>
            <a:pPr/>
            <a:r>
              <a:rPr sz="1100" b="1">
                <a:solidFill>
                  <a:srgbClr val="0065BD"/>
                </a:solidFill>
              </a:rPr>
              <a:t>A 3x3 depthwise convolution at feature position (i,j) computes</a:t>
            </a:r>
          </a:p>
          <a:p>
            <a:pPr lvl="1"/>
            <a:r>
              <a:rPr sz="900" b="0"/>
              <a:t>y[i,j] = sum_{u,v in {-1,0,1}} w[u,v] . f[i+u, j+v]</a:t>
            </a:r>
          </a:p>
          <a:p>
            <a:pPr/>
            <a:r>
              <a:rPr sz="1100" b="1">
                <a:solidFill>
                  <a:srgbClr val="0065BD"/>
                </a:solidFill>
              </a:rPr>
              <a:t>Decoded full-frame, f[i+u,j+v] are the neighbour's real features. Decoded per tile, positions outside the tile do not exist and the kernel is fed whatever the padding rule invents.</a:t>
            </a:r>
          </a:p>
          <a:p>
            <a:pPr/>
            <a:r>
              <a:rPr sz="1100" b="1">
                <a:solidFill>
                  <a:srgbClr val="0065BD"/>
                </a:solidFill>
              </a:rPr>
              <a:t>Only the 3x3 DEPTHWISE has spatial extent. Everything else in a DepthConvBlock is 1x1, and a 1x1 has no neighbours to miss — which is why the exit adapters are 1x1 on purpose: they add no seam.</a:t>
            </a:r>
          </a:p>
          <a:p>
            <a:pPr/>
            <a:r>
              <a:rPr sz="1100" b="1">
                <a:solidFill>
                  <a:srgbClr val="0065BD"/>
                </a:solidFill>
              </a:rPr>
              <a:t>The affected region is a ring one pixel wide per convolution. With b depthwise layers running per tile, the ring is b pixels deep, so for a tile of side F the corrupted fraction is</a:t>
            </a:r>
          </a:p>
          <a:p>
            <a:pPr lvl="1"/>
            <a:r>
              <a:rPr sz="900" b="0"/>
              <a:t>1 - ((F - 2b)/F)^2  ~=  4b/F   for b &lt;&lt; F</a:t>
            </a:r>
          </a:p>
          <a:p>
            <a:pPr lvl="1"/>
            <a:r>
              <a:rPr sz="900" b="0"/>
              <a:t>F = 32 feature px (256 RGB), b = 8 per-tile blocks -&gt; ~ 1 - (16/32)^2 = 75% of the tile is within reach of at least one contaminated value</a:t>
            </a:r>
          </a:p>
          <a:p>
            <a:pPr/>
            <a:r>
              <a:rPr sz="1100" b="1">
                <a:solidFill>
                  <a:srgbClr val="0065BD"/>
                </a:solidFill>
              </a:rPr>
              <a:t>So this is NOT a thin line of bad pixels. The error PROPAGATES inward one ring per layer, which is why the error maps show structure across the whole tile and not only at the border.</a:t>
            </a:r>
          </a:p>
          <a:p>
            <a:pPr/>
            <a:r>
              <a:rPr sz="1100" b="1">
                <a:solidFill>
                  <a:srgbClr val="0065BD"/>
                </a:solidFill>
              </a:rPr>
              <a:t>Two consequences that shaped every later decision: the damage scales with the tile PERIMETER, and it scales with how many layers run per tile — i.e. with the split depth j.</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seam artefact, formally  (2/5): padding is an estimator</a:t>
            </a:r>
          </a:p>
        </p:txBody>
      </p:sp>
      <p:sp>
        <p:nvSpPr>
          <p:cNvPr id="3" name="Content Placeholder 2"/>
          <p:cNvSpPr>
            <a:spLocks noGrp="1"/>
          </p:cNvSpPr>
          <p:nvPr>
            <p:ph idx="1"/>
          </p:nvPr>
        </p:nvSpPr>
        <p:spPr/>
        <p:txBody>
          <a:bodyPr/>
          <a:lstStyle/>
          <a:p>
            <a:pPr/>
            <a:r>
              <a:rPr sz="1000" b="1">
                <a:solidFill>
                  <a:srgbClr val="0065BD"/>
                </a:solidFill>
              </a:rPr>
              <a:t>Padding is not a formatting detail. It is an ESTIMATOR of the neighbour the tile cannot see, and the seam penalty is that estimator's error.</a:t>
            </a:r>
          </a:p>
          <a:p>
            <a:pPr/>
            <a:r>
              <a:rPr sz="1000" b="1">
                <a:solidFill>
                  <a:srgbClr val="0065BD"/>
                </a:solidFill>
              </a:rPr>
              <a:t>For a border column x[0] with true neighbour x[-1]:</a:t>
            </a:r>
          </a:p>
          <a:p>
            <a:pPr lvl="1"/>
            <a:r>
              <a:rPr sz="800" b="0"/>
              <a:t>zeros      x_hat[-1] = 0                     — assumes the signal is centred at zero, which after the -0.5 shift is grey</a:t>
            </a:r>
          </a:p>
          <a:p>
            <a:pPr lvl="1"/>
            <a:r>
              <a:rPr sz="800" b="0"/>
              <a:t>replicate  x_hat[-1] = x[0]                  — assumes local constancy, i.e. a zeroth-order hold</a:t>
            </a:r>
          </a:p>
          <a:p>
            <a:pPr lvl="1"/>
            <a:r>
              <a:rPr sz="800" b="0"/>
              <a:t>linear     x_hat[-1] = 2.x[0] - x[1]         — first-order extrapolation</a:t>
            </a:r>
          </a:p>
          <a:p>
            <a:pPr lvl="1"/>
            <a:r>
              <a:rPr sz="800" b="0"/>
              <a:t>arls       x_hat[-1] = a.x[0], a fitted per channel by least squares — an AR(1) model (arXiv:2502.12300)</a:t>
            </a:r>
          </a:p>
          <a:p>
            <a:pPr/>
            <a:r>
              <a:rPr sz="1000" b="1">
                <a:solidFill>
                  <a:srgbClr val="0065BD"/>
                </a:solidFill>
              </a:rPr>
              <a:t>Measured on CTC, 256px tiles, PURE seam (no early exit, full depth, so tiling is the only difference from full-frame). dB above the release:</a:t>
            </a:r>
          </a:p>
          <a:p>
            <a:pPr lvl="1"/>
            <a:r>
              <a:rPr sz="800" b="0"/>
              <a:t>                qp0      qp32     qp63</a:t>
            </a:r>
          </a:p>
          <a:p>
            <a:pPr lvl="1"/>
            <a:r>
              <a:rPr sz="800" b="0"/>
              <a:t>zeros         0.1005   0.2162   0.5477</a:t>
            </a:r>
          </a:p>
          <a:p>
            <a:pPr lvl="1"/>
            <a:r>
              <a:rPr sz="800" b="0"/>
              <a:t>replicate     0.0616   0.0854   0.1070</a:t>
            </a:r>
          </a:p>
          <a:p>
            <a:pPr lvl="1"/>
            <a:r>
              <a:rPr sz="800" b="0"/>
              <a:t>linear        0.1793   0.2315   0.2638</a:t>
            </a:r>
          </a:p>
          <a:p>
            <a:pPr lvl="1"/>
            <a:r>
              <a:rPr sz="800" b="0"/>
              <a:t>arls          0.0518   0.0707   0.0879</a:t>
            </a:r>
          </a:p>
          <a:p>
            <a:pPr/>
            <a:r>
              <a:rPr sz="1000" b="1">
                <a:solidFill>
                  <a:srgbClr val="0065BD"/>
                </a:solidFill>
              </a:rPr>
              <a:t>The lesson is in the LINEAR row: a higher-order estimator is WORSE than a zeroth-order one. Extrapolating a gradient past a boundary amplifies whatever noise sits on it; assuming constancy does not.</a:t>
            </a:r>
          </a:p>
          <a:p>
            <a:pPr/>
            <a:r>
              <a:rPr sz="1000" b="1">
                <a:solidFill>
                  <a:srgbClr val="0065BD"/>
                </a:solidFill>
              </a:rPr>
              <a:t>arls wins on quality and was REJECTED on cost: +10.7% of decode wall-clock for 0.019 dB. The whole budget is 0.1 dB and the whole saving is ~30% — that trade does not close.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seam artefact, formally  (3/5): why 256 and not 128</a:t>
            </a:r>
          </a:p>
        </p:txBody>
      </p:sp>
      <p:sp>
        <p:nvSpPr>
          <p:cNvPr id="3" name="Content Placeholder 2"/>
          <p:cNvSpPr>
            <a:spLocks noGrp="1"/>
          </p:cNvSpPr>
          <p:nvPr>
            <p:ph idx="1"/>
          </p:nvPr>
        </p:nvSpPr>
        <p:spPr/>
        <p:txBody>
          <a:bodyPr/>
          <a:lstStyle/>
          <a:p>
            <a:pPr/>
            <a:r>
              <a:rPr sz="1000" b="1">
                <a:solidFill>
                  <a:srgbClr val="0065BD"/>
                </a:solidFill>
              </a:rPr>
              <a:t>From (1/5), corrupted fraction ~ 4b/F. Doubling the tile side halves it, and the measurement follows the law:</a:t>
            </a:r>
          </a:p>
          <a:p>
            <a:pPr lvl="1"/>
            <a:r>
              <a:rPr sz="800" b="0"/>
              <a:t>zeros,     qp63:   128px 1.1670 dB  -&gt;  256px 0.5477 dB   (x0.47)</a:t>
            </a:r>
          </a:p>
          <a:p>
            <a:pPr lvl="1"/>
            <a:r>
              <a:rPr sz="800" b="0"/>
              <a:t>replicate, qp63:   128px 0.2125 dB  -&gt;  256px 0.1070 dB   (x0.50)</a:t>
            </a:r>
          </a:p>
          <a:p>
            <a:pPr/>
            <a:r>
              <a:rPr sz="1000" b="1">
                <a:solidFill>
                  <a:srgbClr val="0065BD"/>
                </a:solidFill>
              </a:rPr>
              <a:t>So tile size was the single largest lever, and it costs nothing in compute — the MAC count of a tiled decode does not depend on the tile size at all.</a:t>
            </a:r>
          </a:p>
          <a:p>
            <a:pPr/>
            <a:r>
              <a:rPr sz="1000" b="1">
                <a:solidFill>
                  <a:srgbClr val="0065BD"/>
                </a:solidFill>
              </a:rPr>
              <a:t>What it does cost is ROUTING GRANULARITY: 40 tiles per 1080p frame at 256px against 160 at 128px. Fewer, larger tiles means content that is locally easy gets averaged in with content that is not.</a:t>
            </a:r>
          </a:p>
          <a:p>
            <a:pPr/>
            <a:r>
              <a:rPr sz="1000" b="1">
                <a:solidFill>
                  <a:srgbClr val="0065BD"/>
                </a:solidFill>
              </a:rPr>
              <a:t>The halo argument points the same way. A tile of side F carried with halo h computes ((F+2h)/F)^2 as many pixels:</a:t>
            </a:r>
          </a:p>
          <a:p>
            <a:pPr lvl="1"/>
            <a:r>
              <a:rPr sz="800" b="0"/>
              <a:t>F=16, h=4  -&gt;  2.25x     F=32, h=4  -&gt;  1.56x</a:t>
            </a:r>
          </a:p>
          <a:p>
            <a:pPr/>
            <a:r>
              <a:rPr sz="1000" b="1">
                <a:solidFill>
                  <a:srgbClr val="0065BD"/>
                </a:solidFill>
              </a:rPr>
              <a:t>Which is why the halo is carried on the HEAD only (2.40% of MACs) and not on the trunk. Applying 2.25x to the per-tile trunk would consume more than routing saves — the arithmetic simply does not close.</a:t>
            </a:r>
          </a:p>
          <a:p>
            <a:pPr/>
            <a:r>
              <a:rPr sz="1000" b="1">
                <a:solidFill>
                  <a:srgbClr val="0065BD"/>
                </a:solidFill>
              </a:rPr>
              <a:t>BEST128 exists to measure the granularity side of this trade rather than argue it. Both are still training.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seam artefact, formally  (4/5): repair that is told where to look</a:t>
            </a:r>
          </a:p>
        </p:txBody>
      </p:sp>
      <p:sp>
        <p:nvSpPr>
          <p:cNvPr id="3" name="Content Placeholder 2"/>
          <p:cNvSpPr>
            <a:spLocks noGrp="1"/>
          </p:cNvSpPr>
          <p:nvPr>
            <p:ph idx="1"/>
          </p:nvPr>
        </p:nvSpPr>
        <p:spPr/>
        <p:txBody>
          <a:bodyPr/>
          <a:lstStyle/>
          <a:p>
            <a:pPr/>
            <a:r>
              <a:rPr sz="1000" b="1">
                <a:solidFill>
                  <a:srgbClr val="0065BD"/>
                </a:solidFill>
              </a:rPr>
              <a:t>A translation-invariant 3x3 applied to the stitched canvas has to INFER which pixels sit on a boundary, from content alone — and it applies the same correction to the ~25% that are clean interior, where any correction is damage. It is being asked a harder question than the one we have.</a:t>
            </a:r>
          </a:p>
          <a:p>
            <a:pPr/>
            <a:r>
              <a:rPr sz="1000" b="1">
                <a:solidFill>
                  <a:srgbClr val="0065BD"/>
                </a:solidFill>
              </a:rPr>
              <a:t>But the grid is not unknown. unpatchify lays tiles on a fixed P x P lattice from the origin, at training and at inference alike. So gate the correction by position WITHIN a tile:</a:t>
            </a:r>
          </a:p>
          <a:p>
            <a:pPr lvl="1"/>
            <a:r>
              <a:rPr sz="800" b="0"/>
              <a:t>Repair(f) = f + G[i mod P, j mod P] . PW( WSiLU( DW3x3(f) ) )</a:t>
            </a:r>
          </a:p>
          <a:p>
            <a:pPr/>
            <a:r>
              <a:rPr sz="1000" b="1">
                <a:solidFill>
                  <a:srgbClr val="0065BD"/>
                </a:solidFill>
              </a:rPr>
              <a:t>G is P x P = 256 scalars, shared across all 384 channels</a:t>
            </a:r>
          </a:p>
          <a:p>
            <a:pPr lvl="1"/>
            <a:r>
              <a:rPr sz="800" b="0"/>
              <a:t>0.0007% of the decoder's parameters, and no MAC beyond one broadcast multiply</a:t>
            </a:r>
          </a:p>
          <a:p>
            <a:pPr lvl="1"/>
            <a:r>
              <a:rPr sz="800" b="0"/>
              <a:t>initialised at G = exp(-d/tau), d = distance in feature pixels to the nearest tile edge — so at step 0 the gate already sits on the seam and training refines it instead of discovering it</a:t>
            </a:r>
          </a:p>
          <a:p>
            <a:pPr lvl="1"/>
            <a:r>
              <a:rPr sz="800" b="0"/>
              <a:t>PW is zero-initialised, so the whole module starts as the identity and the warm start stays bit-exact against released DCVC-UF</a:t>
            </a:r>
          </a:p>
          <a:p>
            <a:pPr/>
            <a:r>
              <a:rPr sz="1000" b="1">
                <a:solidFill>
                  <a:srgbClr val="0065BD"/>
                </a:solidFill>
              </a:rPr>
              <a:t>Total cost 0.95% of the decode — and it is charged inside every saving in this deck, including the deepest exit, which is why our full-depth path costs 1.0095 stock decodes rather than 1.0.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seam artefact  (5/5): at pixel scale, and what repair is worth</a:t>
            </a:r>
          </a:p>
        </p:txBody>
      </p:sp>
      <p:sp>
        <p:nvSpPr>
          <p:cNvPr id="3" name="Content Placeholder 2"/>
          <p:cNvSpPr>
            <a:spLocks noGrp="1"/>
          </p:cNvSpPr>
          <p:nvPr>
            <p:ph idx="1"/>
          </p:nvPr>
        </p:nvSpPr>
        <p:spPr>
          <a:xfrm>
            <a:off x="508000" y="1417320"/>
            <a:ext cx="8128000" cy="3296919"/>
          </a:xfrm>
        </p:spPr>
        <p:txBody>
          <a:bodyPr/>
          <a:lstStyle/>
          <a:p>
            <a:pPr/>
            <a:r>
              <a:rPr sz="1000" b="1">
                <a:solidFill>
                  <a:srgbClr val="0065BD"/>
                </a:solidFill>
              </a:rPr>
              <a:t>Bosphorus qp63, 192px window straddling a tile boundary (dashed). Every tile at FULL depth, so early exit contributes nothing — this is the tiling artefact alone. Error maps vs the full-frame decode of the SAME latent, amplified x40.</a:t>
            </a:r>
          </a:p>
          <a:p>
            <a:pPr/>
            <a:r>
              <a:rPr sz="1000" b="1">
                <a:solidFill>
                  <a:srgbClr val="0065BD"/>
                </a:solidFill>
              </a:rPr>
              <a:t>Zeros shows the seam as a bright ridge AND structured error across the tile interior — the inward propagation from (1/5). Replicate removes most of both.</a:t>
            </a:r>
          </a:p>
          <a:p>
            <a:pPr/>
            <a:r>
              <a:rPr sz="1000" b="1">
                <a:solidFill>
                  <a:srgbClr val="0065BD"/>
                </a:solidFill>
              </a:rPr>
              <a:t>An uncomfortable measurement, 8 sequences at qp63, repair ON vs OFF on the same latents and the same exit maps:</a:t>
            </a:r>
          </a:p>
          <a:p>
            <a:pPr lvl="1"/>
            <a:r>
              <a:rPr sz="800" b="0"/>
              <a:t>all tiles at full depth:  0.0672 -&gt; 0.0750 dB   repair makes it WORSE</a:t>
            </a:r>
          </a:p>
          <a:p>
            <a:pPr lvl="1"/>
            <a:r>
              <a:rPr sz="800" b="0"/>
              <a:t>routed at 0.1 dB:         0.1259 -&gt; 0.1239 dB   repair helps by 0.002</a:t>
            </a:r>
          </a:p>
          <a:p>
            <a:pPr/>
            <a:r>
              <a:rPr sz="1000" b="1">
                <a:solidFill>
                  <a:srgbClr val="0065BD"/>
                </a:solidFill>
              </a:rPr>
              <a:t>So grid repair earns 0.002 dB for 0.95% of the decode, and it RAISES the floor — the same floor that already consumes 30% of the budget at qp63. By the cost-per-dB rule that rejected arls, this module is on the wrong side of its own test.</a:t>
            </a:r>
          </a:p>
          <a:p>
            <a:pPr lvl="1"/>
            <a:r>
              <a:rPr sz="800" b="0"/>
              <a:t>caveat: it was trained jointly, so switching it off at inference is not the same as training without it. The clean test is a run with seam_repair=none at 256px, which is not one of the six.</a:t>
            </a:r>
          </a:p>
        </p:txBody>
      </p:sp>
      <p:pic>
        <p:nvPicPr>
          <p:cNvPr id="4" name="Picture 3" descr="seam_patches.png"/>
          <p:cNvPicPr>
            <a:picLocks noChangeAspect="1"/>
          </p:cNvPicPr>
          <p:nvPr/>
        </p:nvPicPr>
        <p:blipFill>
          <a:blip r:embed="rId2"/>
          <a:stretch>
            <a:fillRect/>
          </a:stretch>
        </p:blipFill>
        <p:spPr>
          <a:xfrm>
            <a:off x="2795861" y="4878831"/>
            <a:ext cx="3552277" cy="156768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MACs are not milliseconds</a:t>
            </a:r>
          </a:p>
        </p:txBody>
      </p:sp>
      <p:sp>
        <p:nvSpPr>
          <p:cNvPr id="3" name="Content Placeholder 2"/>
          <p:cNvSpPr>
            <a:spLocks noGrp="1"/>
          </p:cNvSpPr>
          <p:nvPr>
            <p:ph idx="1"/>
          </p:nvPr>
        </p:nvSpPr>
        <p:spPr>
          <a:xfrm>
            <a:off x="508000" y="1417320"/>
            <a:ext cx="8128000" cy="3017520"/>
          </a:xfrm>
        </p:spPr>
        <p:txBody>
          <a:bodyPr/>
          <a:lstStyle/>
          <a:p>
            <a:pPr/>
            <a:r>
              <a:rPr sz="1100" b="1">
                <a:solidFill>
                  <a:srgbClr val="0065BD"/>
                </a:solidFill>
              </a:rPr>
              <a:t>Every saving in this project is a MAC count. The field measures FPS.</a:t>
            </a:r>
          </a:p>
          <a:p>
            <a:pPr/>
            <a:r>
              <a:rPr sz="1100" b="1">
                <a:solidFill>
                  <a:srgbClr val="0065BD"/>
                </a:solidFill>
              </a:rPr>
              <a:t>Measured end to end, 1920x1088, interleaved, median of 40:</a:t>
            </a:r>
          </a:p>
          <a:p>
            <a:pPr lvl="1"/>
            <a:r>
              <a:rPr sz="900" b="0"/>
              <a:t>0.1 dB: 28% of MACs -&gt; 13% of wall-clock (1.14x)</a:t>
            </a:r>
          </a:p>
          <a:p>
            <a:pPr lvl="1"/>
            <a:r>
              <a:rPr sz="900" b="0"/>
              <a:t>0.3 dB: 39% of MACs -&gt; 28% of wall-clock (1.38x)</a:t>
            </a:r>
          </a:p>
          <a:p>
            <a:pPr lvl="1"/>
            <a:r>
              <a:rPr sz="900" b="0"/>
              <a:t>0.5 dB: 42% of MACs -&gt; 34% of wall-clock (1.51x)</a:t>
            </a:r>
          </a:p>
          <a:p>
            <a:pPr/>
            <a:r>
              <a:rPr sz="1100" b="1">
                <a:solidFill>
                  <a:srgbClr val="0065BD"/>
                </a:solidFill>
              </a:rPr>
              <a:t>The MAC model is accurate at UNIFORM depth (agrees within 1 point per exit) and optimistic under ROUTED execution. The difference is exactly the machinery routing needs.</a:t>
            </a:r>
          </a:p>
          <a:p>
            <a:pPr/>
            <a:r>
              <a:rPr sz="1100" b="1">
                <a:solidFill>
                  <a:srgbClr val="0065BD"/>
                </a:solidFill>
              </a:rPr>
              <a:t>Profiled: the per-group bookkeeping — mask, gather, scatter, and the device-host sync each forces — is 36.4 ms against the groups' own 77.5 ms of convolution, 32% of the loop, invisible to the MAC model</a:t>
            </a:r>
          </a:p>
          <a:p>
            <a:pPr/>
            <a:r>
              <a:rPr sz="1100" b="1">
                <a:solidFill>
                  <a:srgbClr val="0065BD"/>
                </a:solidFill>
              </a:rPr>
              <a:t>Recoverable, not a hardware limit: sorting tiles by exit depth once makes the active set a contiguous prefix. Prototyped, bit-identical output, 23-37% of the group loop returned</a:t>
            </a:r>
          </a:p>
        </p:txBody>
      </p:sp>
      <p:pic>
        <p:nvPicPr>
          <p:cNvPr id="4" name="Picture 3" descr="latency.png"/>
          <p:cNvPicPr>
            <a:picLocks noChangeAspect="1"/>
          </p:cNvPicPr>
          <p:nvPr/>
        </p:nvPicPr>
        <p:blipFill>
          <a:blip r:embed="rId2"/>
          <a:stretch>
            <a:fillRect/>
          </a:stretch>
        </p:blipFill>
        <p:spPr>
          <a:xfrm>
            <a:off x="1767548" y="4599431"/>
            <a:ext cx="5608903" cy="1847088"/>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 vs the released decoder</a:t>
            </a:r>
          </a:p>
        </p:txBody>
      </p:sp>
      <p:sp>
        <p:nvSpPr>
          <p:cNvPr id="3" name="Content Placeholder 2"/>
          <p:cNvSpPr>
            <a:spLocks noGrp="1"/>
          </p:cNvSpPr>
          <p:nvPr>
            <p:ph idx="1"/>
          </p:nvPr>
        </p:nvSpPr>
        <p:spPr>
          <a:xfrm>
            <a:off x="508000" y="1417320"/>
            <a:ext cx="8128000" cy="2928619"/>
          </a:xfrm>
        </p:spPr>
        <p:txBody>
          <a:bodyPr/>
          <a:lstStyle/>
          <a:p>
            <a:pPr/>
            <a:r>
              <a:rPr sz="1200" b="1">
                <a:solidFill>
                  <a:srgbClr val="0065BD"/>
                </a:solidFill>
              </a:rPr>
              <a:t>At 0.3 dB: ceiling 42% already at 0.20 dB (qp0) · 42% (qp32) · 36% (qp63)</a:t>
            </a:r>
          </a:p>
          <a:p>
            <a:pPr lvl="1"/>
            <a:r>
              <a:rPr sz="1000" b="0"/>
              <a:t>dB is the per-frame average test_video.py computes — the convention every published DCVC-UF number uses. Pooling all tiles into one MSE reads 0.023-0.033 dB lower on the same allocation and would flatter these</a:t>
            </a:r>
          </a:p>
          <a:p>
            <a:pPr/>
            <a:r>
              <a:rPr sz="1200" b="1">
                <a:solidFill>
                  <a:srgbClr val="0065BD"/>
                </a:solidFill>
              </a:rPr>
              <a:t>At 0.1 dB, against the RELEASE: 34.0% / 26.8% / 20.8% (qp0/32/63)</a:t>
            </a:r>
          </a:p>
          <a:p>
            <a:pPr lvl="1"/>
            <a:r>
              <a:rPr sz="1000" b="0"/>
              <a:t>these are 0.6-0.75 points below what earlier decks showed: savings were divided by our own deepest exit (1.0095 stock decodes) instead of by the release's 1.0, which quietly took the seam-repair tax back out</a:t>
            </a:r>
          </a:p>
          <a:p>
            <a:pPr/>
            <a:r>
              <a:rPr sz="1200" b="0"/>
              <a:t>The 30% target is cleared by qp 0/16 at 0.1 dB, and by qp 32/48/63 at 0.3 dB</a:t>
            </a:r>
          </a:p>
          <a:p>
            <a:pPr/>
            <a:r>
              <a:rPr sz="1200" b="1">
                <a:solidFill>
                  <a:srgbClr val="0065BD"/>
                </a:solidFill>
              </a:rPr>
              <a:t>Ladder ceiling 41.9% at every rate, set by the split depth j=2, not by training</a:t>
            </a:r>
          </a:p>
          <a:p>
            <a:pPr/>
            <a:r>
              <a:rPr sz="1200" b="1">
                <a:solidFill>
                  <a:srgbClr val="0065BD"/>
                </a:solidFill>
              </a:rPr>
              <a:t>Integrated over the curve, not read at one point:</a:t>
            </a:r>
          </a:p>
          <a:p>
            <a:pPr lvl="1"/>
            <a:r>
              <a:rPr sz="1000" b="0"/>
              <a:t>BD-saving 30.8% over dB in [0.064, 0.196] (qp 0: 37% · 16: 34% · 32: 31% · 48: 27% · 63: 24%); BD-quality 0.062 dB over saving in [10%, 30%]</a:t>
            </a:r>
          </a:p>
        </p:txBody>
      </p:sp>
      <p:pic>
        <p:nvPicPr>
          <p:cNvPr id="4" name="Picture 3" descr="nf_results.png"/>
          <p:cNvPicPr>
            <a:picLocks noChangeAspect="1"/>
          </p:cNvPicPr>
          <p:nvPr/>
        </p:nvPicPr>
        <p:blipFill>
          <a:blip r:embed="rId2"/>
          <a:stretch>
            <a:fillRect/>
          </a:stretch>
        </p:blipFill>
        <p:spPr>
          <a:xfrm>
            <a:off x="1772585" y="4510531"/>
            <a:ext cx="5598829" cy="1935988"/>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Who decides: encoder search or decoder prediction</a:t>
            </a:r>
          </a:p>
        </p:txBody>
      </p:sp>
      <p:sp>
        <p:nvSpPr>
          <p:cNvPr id="3" name="Content Placeholder 2"/>
          <p:cNvSpPr>
            <a:spLocks noGrp="1"/>
          </p:cNvSpPr>
          <p:nvPr>
            <p:ph idx="1"/>
          </p:nvPr>
        </p:nvSpPr>
        <p:spPr>
          <a:xfrm>
            <a:off x="508000" y="1417320"/>
            <a:ext cx="8128000" cy="2788920"/>
          </a:xfrm>
        </p:spPr>
        <p:txBody>
          <a:bodyPr/>
          <a:lstStyle/>
          <a:p>
            <a:pPr/>
            <a:r>
              <a:rPr sz="1100" b="1">
                <a:solidFill>
                  <a:srgbClr val="0065BD"/>
                </a:solidFill>
              </a:rPr>
              <a:t>A — the encoder has the source, so it decodes every tile at every exit, measures the true error, and signals the answer: ~94 bits/frame, 0.008-0.020% of the bitrate</a:t>
            </a:r>
          </a:p>
          <a:p>
            <a:pPr/>
            <a:r>
              <a:rPr sz="1100" b="1">
                <a:solidFill>
                  <a:srgbClr val="0065BD"/>
                </a:solidFill>
              </a:rPr>
              <a:t>B — the decoder cannot see the source, so it predicts what A would have chosen from the stem, the latent and the entropy scales. Nothing is sent; the file is byte-identical to a stock stream</a:t>
            </a:r>
          </a:p>
          <a:p>
            <a:pPr/>
            <a:r>
              <a:rPr sz="1100" b="1">
                <a:solidFill>
                  <a:srgbClr val="0065BD"/>
                </a:solidFill>
              </a:rPr>
              <a:t>At 0.1 dB, same checkpoint and same frames:</a:t>
            </a:r>
          </a:p>
          <a:p>
            <a:pPr lvl="1"/>
            <a:r>
              <a:rPr sz="900" b="0"/>
              <a:t>qp0: A 34.0% signalled vs B 30.1% predicted — gap 3.96 pts</a:t>
            </a:r>
          </a:p>
          <a:p>
            <a:pPr lvl="1"/>
            <a:r>
              <a:rPr sz="900" b="0"/>
              <a:t>qp32: A 26.8% signalled vs B 23.9% predicted — gap 2.82 pts</a:t>
            </a:r>
          </a:p>
          <a:p>
            <a:pPr lvl="1"/>
            <a:r>
              <a:rPr sz="900" b="0"/>
              <a:t>qp63: A 20.8% signalled vs B 19.3% predicted — gap 1.50 pts</a:t>
            </a:r>
          </a:p>
          <a:p>
            <a:pPr/>
            <a:r>
              <a:rPr sz="1100" b="1">
                <a:solidFill>
                  <a:srgbClr val="0065BD"/>
                </a:solidFill>
              </a:rPr>
              <a:t>Compute is asymmetric: A costs the ENCODER ~1.21 extra decodes per frame and the decoder nothing; B costs the decoder 0.163% and the encoder nothing. For VOD A is cheaper in total; for live the ranking inverts</a:t>
            </a:r>
          </a:p>
        </p:txBody>
      </p:sp>
      <p:pic>
        <p:nvPicPr>
          <p:cNvPr id="4" name="Picture 3" descr="ab_decision.png"/>
          <p:cNvPicPr>
            <a:picLocks noChangeAspect="1"/>
          </p:cNvPicPr>
          <p:nvPr/>
        </p:nvPicPr>
        <p:blipFill>
          <a:blip r:embed="rId2"/>
          <a:stretch>
            <a:fillRect/>
          </a:stretch>
        </p:blipFill>
        <p:spPr>
          <a:xfrm>
            <a:off x="1400162" y="4370831"/>
            <a:ext cx="6343675" cy="2075688"/>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claim this work overturned</a:t>
            </a:r>
          </a:p>
        </p:txBody>
      </p:sp>
      <p:sp>
        <p:nvSpPr>
          <p:cNvPr id="3" name="Content Placeholder 2"/>
          <p:cNvSpPr>
            <a:spLocks noGrp="1"/>
          </p:cNvSpPr>
          <p:nvPr>
            <p:ph idx="1"/>
          </p:nvPr>
        </p:nvSpPr>
        <p:spPr>
          <a:xfrm>
            <a:off x="508000" y="1417320"/>
            <a:ext cx="8128000" cy="2788920"/>
          </a:xfrm>
        </p:spPr>
        <p:txBody>
          <a:bodyPr/>
          <a:lstStyle/>
          <a:p>
            <a:pPr/>
            <a:r>
              <a:rPr sz="1100" b="1">
                <a:solidFill>
                  <a:srgbClr val="0065BD"/>
                </a:solidFill>
              </a:rPr>
              <a:t>The previous deck said: prediction failed, signalling works. That was measured on a router trained JOINTLY with a moving decoder.</a:t>
            </a:r>
          </a:p>
          <a:p>
            <a:pPr lvl="1"/>
            <a:r>
              <a:rPr sz="900" b="0"/>
              <a:t>BEST's joint router collapsed to a qp-dependent constant — agreement with the oracle 0.000 at qp63, 239 of 240 tiles sent to one exit</a:t>
            </a:r>
          </a:p>
          <a:p>
            <a:pPr/>
            <a:r>
              <a:rPr sz="1100" b="1">
                <a:solidFill>
                  <a:srgbClr val="0065BD"/>
                </a:solidFill>
              </a:rPr>
              <a:t>Retrained against the FROZEN decoder, same architecture and same information: 0.848 held-out agreement, and the zero-bit configuration works at every rate</a:t>
            </a:r>
          </a:p>
          <a:p>
            <a:pPr/>
            <a:r>
              <a:rPr sz="1100" b="1">
                <a:solidFill>
                  <a:srgbClr val="0065BD"/>
                </a:solidFill>
              </a:rPr>
              <a:t>So the limit was the training target, not the information</a:t>
            </a:r>
          </a:p>
          <a:p>
            <a:pPr/>
            <a:r>
              <a:rPr sz="1100" b="1">
                <a:solidFill>
                  <a:srgbClr val="0065BD"/>
                </a:solidFill>
              </a:rPr>
              <a:t>And the cost of not signalling depends on how tight the budget is:</a:t>
            </a:r>
          </a:p>
          <a:p>
            <a:pPr lvl="1"/>
            <a:r>
              <a:rPr sz="900" b="0"/>
              <a:t>0.1 dB: 1.35-3.96 points · 0.3 dB: 0.16-0.95 · 0.5 dB: 0.16-1.23</a:t>
            </a:r>
          </a:p>
          <a:p>
            <a:pPr lvl="1"/>
            <a:r>
              <a:rPr sz="900" b="0"/>
              <a:t>at the ceiling the gap is exactly 0.16 — the router's own 0.163% of compute, and nothing else left to explain</a:t>
            </a:r>
          </a:p>
          <a:p>
            <a:pPr/>
            <a:r>
              <a:rPr sz="1100" b="1">
                <a:solidFill>
                  <a:srgbClr val="0065BD"/>
                </a:solidFill>
              </a:rPr>
              <a:t>Value of seeing the source frame is largest where the budget is tightest</a:t>
            </a:r>
          </a:p>
        </p:txBody>
      </p:sp>
      <p:pic>
        <p:nvPicPr>
          <p:cNvPr id="4" name="Picture 3" descr="ab_budgets.png"/>
          <p:cNvPicPr>
            <a:picLocks noChangeAspect="1"/>
          </p:cNvPicPr>
          <p:nvPr/>
        </p:nvPicPr>
        <p:blipFill>
          <a:blip r:embed="rId2"/>
          <a:stretch>
            <a:fillRect/>
          </a:stretch>
        </p:blipFill>
        <p:spPr>
          <a:xfrm>
            <a:off x="1517373" y="4370831"/>
            <a:ext cx="6109254" cy="2075688"/>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 unit of speed costs, against the field</a:t>
            </a:r>
          </a:p>
        </p:txBody>
      </p:sp>
      <p:sp>
        <p:nvSpPr>
          <p:cNvPr id="3" name="Content Placeholder 2"/>
          <p:cNvSpPr>
            <a:spLocks noGrp="1"/>
          </p:cNvSpPr>
          <p:nvPr>
            <p:ph idx="1"/>
          </p:nvPr>
        </p:nvSpPr>
        <p:spPr>
          <a:xfrm>
            <a:off x="508000" y="1417320"/>
            <a:ext cx="8128000" cy="2788920"/>
          </a:xfrm>
        </p:spPr>
        <p:txBody>
          <a:bodyPr/>
          <a:lstStyle/>
          <a:p>
            <a:pPr/>
            <a:r>
              <a:rPr sz="1100" b="1">
                <a:solidFill>
                  <a:srgbClr val="0065BD"/>
                </a:solidFill>
              </a:rPr>
              <a:t>BD-Rate is the cost; MACs saved is the benefit. Both measured on the released intra decoder, YUV420 PSNR, 40 CTC sequences</a:t>
            </a:r>
          </a:p>
          <a:p>
            <a:pPr lvl="1"/>
            <a:r>
              <a:rPr sz="900" b="0"/>
              <a:t>0.1 dB: 0.88% BD-Rate for 27.6% of MACs · 0.3 dB: 2.51% for 39.5% · 0.5 dB: 3.36% for 41.7%</a:t>
            </a:r>
          </a:p>
          <a:p>
            <a:pPr/>
            <a:r>
              <a:rPr sz="1100" b="1">
                <a:solidFill>
                  <a:srgbClr val="0065BD"/>
                </a:solidFill>
              </a:rPr>
              <a:t>Expressed per unit of real speedup, the price is FLAT: 6.2 / 6.6 / 6.5 BD-Rate points across the three budgets — an exchange rate, not a cherry-picked operating point</a:t>
            </a:r>
          </a:p>
          <a:p>
            <a:pPr/>
            <a:r>
              <a:rPr sz="1100" b="1">
                <a:solidFill>
                  <a:srgbClr val="0065BD"/>
                </a:solidFill>
              </a:rPr>
              <a:t>DCVC-UF ships two model sizes, and the line between them is what this field currently pays for speed: HT-L to HT-S gives up 10.6 BD-Rate points for 1.66x, i.e. 16.1 points per unit</a:t>
            </a:r>
          </a:p>
          <a:p>
            <a:pPr/>
            <a:r>
              <a:rPr sz="1100" b="1">
                <a:solidFill>
                  <a:srgbClr val="0065BD"/>
                </a:solidFill>
              </a:rPr>
              <a:t>Adaptive depth buys speed about 2.4x more cheaply than shrinking the model — a first answer to 'why not just train a smaller decoder', taken from a table already in print</a:t>
            </a:r>
          </a:p>
          <a:p>
            <a:pPr lvl="1"/>
            <a:r>
              <a:rPr sz="900" b="0"/>
              <a:t>their pair is whole-video and ours is intra-only, so this calibrates the exchange rate rather than being a head-to-head; our own static baseline at matched depth is still owed</a:t>
            </a:r>
          </a:p>
        </p:txBody>
      </p:sp>
      <p:pic>
        <p:nvPicPr>
          <p:cNvPr id="4" name="Picture 3" descr="paper_rdc.png"/>
          <p:cNvPicPr>
            <a:picLocks noChangeAspect="1"/>
          </p:cNvPicPr>
          <p:nvPr/>
        </p:nvPicPr>
        <p:blipFill>
          <a:blip r:embed="rId2"/>
          <a:stretch>
            <a:fillRect/>
          </a:stretch>
        </p:blipFill>
        <p:spPr>
          <a:xfrm>
            <a:off x="1399998" y="4370831"/>
            <a:ext cx="6344004" cy="2075688"/>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Related work, and where we sit</a:t>
            </a:r>
          </a:p>
        </p:txBody>
      </p:sp>
      <p:sp>
        <p:nvSpPr>
          <p:cNvPr id="3" name="Content Placeholder 2"/>
          <p:cNvSpPr>
            <a:spLocks noGrp="1"/>
          </p:cNvSpPr>
          <p:nvPr>
            <p:ph idx="1"/>
          </p:nvPr>
        </p:nvSpPr>
        <p:spPr/>
        <p:txBody>
          <a:bodyPr/>
          <a:lstStyle/>
          <a:p>
            <a:pPr/>
            <a:r>
              <a:rPr sz="1100" b="1">
                <a:solidFill>
                  <a:srgbClr val="0065BD"/>
                </a:solidFill>
              </a:rPr>
              <a:t>Early exit / dynamic depth: BranchyNet, MSDNet, SkipNet, and the confidence- and entropy-based exit criteria surveyed in the dynamic networks literature</a:t>
            </a:r>
          </a:p>
          <a:p>
            <a:pPr lvl="1"/>
            <a:r>
              <a:rPr sz="900" b="0"/>
              <a:t>all decide from the network's own output; ours decides per SPATIAL TILE for a fixed output, which is a different question</a:t>
            </a:r>
          </a:p>
          <a:p>
            <a:pPr/>
            <a:r>
              <a:rPr sz="1100" b="1">
                <a:solidFill>
                  <a:srgbClr val="0065BD"/>
                </a:solidFill>
              </a:rPr>
              <a:t>Xie et al., 'Exploring the Rate-Distortion-Complexity Optimization in Neural Image Compression' (arXiv:2305.07678)</a:t>
            </a:r>
          </a:p>
          <a:p>
            <a:pPr lvl="1"/>
            <a:r>
              <a:rPr sz="900" b="0"/>
              <a:t>closest prior art to our configuration B: an adaptive spatial mask decoded from side information, no explicit overhead</a:t>
            </a:r>
          </a:p>
          <a:p>
            <a:pPr lvl="1"/>
            <a:r>
              <a:rPr sz="900" b="0"/>
              <a:t>but it adapts the ENTROPY model's spatial dependencies; we adapt the SYNTHESIS depth. Different part of the decoder, composable in principle</a:t>
            </a:r>
          </a:p>
          <a:p>
            <a:pPr/>
            <a:r>
              <a:rPr sz="1100" b="1">
                <a:solidFill>
                  <a:srgbClr val="0065BD"/>
                </a:solidFill>
              </a:rPr>
              <a:t>'Spatial competition for low-complexity learned image compression' (arXiv:2605.13243)</a:t>
            </a:r>
          </a:p>
          <a:p>
            <a:pPr lvl="1"/>
            <a:r>
              <a:rPr sz="900" b="0"/>
              <a:t>transmits a per-region mode map at 1.8e-4 bpp; ours is 4.5e-5, four times cheaper, but they select between CODECS for rate and we select DEPTH for compute</a:t>
            </a:r>
          </a:p>
          <a:p>
            <a:pPr/>
            <a:r>
              <a:rPr sz="1100" b="1">
                <a:solidFill>
                  <a:srgbClr val="0065BD"/>
                </a:solidFill>
              </a:rPr>
              <a:t>Loss-free load balancing (arXiv:2408.15664) is used directly: the router is balanced toward the ORACLE's exit mix, not toward uniform, because our exits are not interchangeable experts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Quantisation: a second lever, and what it does to the ladder</a:t>
            </a:r>
          </a:p>
        </p:txBody>
      </p:sp>
      <p:sp>
        <p:nvSpPr>
          <p:cNvPr id="3" name="Content Placeholder 2"/>
          <p:cNvSpPr>
            <a:spLocks noGrp="1"/>
          </p:cNvSpPr>
          <p:nvPr>
            <p:ph idx="1"/>
          </p:nvPr>
        </p:nvSpPr>
        <p:spPr/>
        <p:txBody>
          <a:bodyPr/>
          <a:lstStyle/>
          <a:p>
            <a:pPr/>
            <a:r>
              <a:rPr sz="1100" b="1">
                <a:solidFill>
                  <a:srgbClr val="0065BD"/>
                </a:solidFill>
              </a:rPr>
              <a:t>Early exit removes MACs; quantisation makes the rest cheaper. Same budget, so they can be priced against each other</a:t>
            </a:r>
          </a:p>
          <a:p>
            <a:pPr/>
            <a:r>
              <a:rPr sz="1100" b="1">
                <a:solidFill>
                  <a:srgbClr val="0065BD"/>
                </a:solidFill>
              </a:rPr>
              <a:t>Weight-only, per-channel, no calibration — deliberately the weakest form, so the numbers bound quantisation from below</a:t>
            </a:r>
          </a:p>
          <a:p>
            <a:pPr/>
            <a:r>
              <a:rPr sz="1100" b="1">
                <a:solidFill>
                  <a:srgbClr val="0065BD"/>
                </a:solidFill>
              </a:rPr>
              <a:t>The question is not whether it costs quality but whether it costs the SHALLOW exits more. It does not — the prediction was wrong:</a:t>
            </a:r>
          </a:p>
          <a:p>
            <a:pPr lvl="1"/>
            <a:r>
              <a:rPr sz="900" b="0"/>
              <a:t>at 8 bits the degradation is uniform (qp63: exit 2 +0.108 dB, deepest +0.111); at 6 and 4 bits the DEEPEST exits suffer most</a:t>
            </a:r>
          </a:p>
          <a:p>
            <a:pPr lvl="1"/>
            <a:r>
              <a:rPr sz="900" b="0"/>
              <a:t>reason: the deepest exit starts near-perfect and has no headroom to absorb a noise floor; a shallow exit's error is already dominated by the blocks it skipped</a:t>
            </a:r>
          </a:p>
          <a:p>
            <a:pPr/>
            <a:r>
              <a:rPr sz="1100" b="1">
                <a:solidFill>
                  <a:srgbClr val="0065BD"/>
                </a:solidFill>
              </a:rPr>
              <a:t>What matters for the ladder is the SPREAD between exits, which is what routing exploits:</a:t>
            </a:r>
          </a:p>
          <a:p>
            <a:pPr lvl="1"/>
            <a:r>
              <a:rPr sz="900" b="0"/>
              <a:t>qp63: 2.864 dB (fp32) -&gt; 2.876 (8 bit) -&gt; 2.224 (6 bit) -&gt; 1.398 (4 bit)</a:t>
            </a:r>
          </a:p>
          <a:p>
            <a:pPr/>
            <a:r>
              <a:rPr sz="1100" b="1">
                <a:solidFill>
                  <a:srgbClr val="0065BD"/>
                </a:solidFill>
              </a:rPr>
              <a:t>8-bit weights compose cleanly at 16x fewer BOPs; 6 bits and below erode the ladder itself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Theory, and what is still owed</a:t>
            </a:r>
          </a:p>
        </p:txBody>
      </p:sp>
      <p:sp>
        <p:nvSpPr>
          <p:cNvPr id="3" name="Content Placeholder 2"/>
          <p:cNvSpPr>
            <a:spLocks noGrp="1"/>
          </p:cNvSpPr>
          <p:nvPr>
            <p:ph idx="1"/>
          </p:nvPr>
        </p:nvSpPr>
        <p:spPr>
          <a:xfrm>
            <a:off x="508000" y="1417320"/>
            <a:ext cx="8128000" cy="2433320"/>
          </a:xfrm>
        </p:spPr>
        <p:txBody>
          <a:bodyPr/>
          <a:lstStyle/>
          <a:p>
            <a:pPr/>
            <a:r>
              <a:rPr sz="1000" b="1">
                <a:solidFill>
                  <a:srgbClr val="0065BD"/>
                </a:solidFill>
              </a:rPr>
              <a:t>Cost is additive over tiles and MSE is a mean over tiles, so both are affine in the assignment</a:t>
            </a:r>
          </a:p>
          <a:p>
            <a:pPr lvl="1"/>
            <a:r>
              <a:rPr sz="800" b="0"/>
              <a:t>fixed proportions reach the convex hull of the K exit points; per-tile assignment reaches the Minkowski average of the N tile hulls</a:t>
            </a:r>
          </a:p>
          <a:p>
            <a:pPr lvl="1"/>
            <a:r>
              <a:rPr sz="800" b="0"/>
              <a:t>their gap is min-of-average minus average-of-min, zero iff every tile prefers the same exit — this IS the value of adaptivity</a:t>
            </a:r>
          </a:p>
          <a:p>
            <a:pPr/>
            <a:r>
              <a:rPr sz="1000" b="1">
                <a:solidFill>
                  <a:srgbClr val="0065BD"/>
                </a:solidFill>
              </a:rPr>
              <a:t>Measured: delta/J rises 0.39% to 2.09% with rate</a:t>
            </a:r>
          </a:p>
          <a:p>
            <a:pPr/>
            <a:r>
              <a:rPr sz="1000" b="1">
                <a:solidFill>
                  <a:srgbClr val="0065BD"/>
                </a:solidFill>
              </a:rPr>
              <a:t>Still owed before this is a paper:</a:t>
            </a:r>
          </a:p>
          <a:p>
            <a:pPr lvl="1"/>
            <a:r>
              <a:rPr sz="800" b="0"/>
              <a:t>a static decoder truncated to the depth we average (6.95 blocks of 12 at qp0, 8.78 at qp63) — the experiment that decides whether adaptivity is the contribution</a:t>
            </a:r>
          </a:p>
          <a:p>
            <a:pPr lvl="1"/>
            <a:r>
              <a:rPr sz="800" b="0"/>
              <a:t>all six runs to 4 epochs; every number here is one checkpoint at one epoch and the measured saving is still climbing</a:t>
            </a:r>
          </a:p>
          <a:p>
            <a:pPr lvl="1"/>
            <a:r>
              <a:rPr sz="800" b="0"/>
              <a:t>HEVC B/C/D, 13 of 53 sequences, reported as NOT MEASURED</a:t>
            </a:r>
          </a:p>
          <a:p>
            <a:pPr lvl="1"/>
            <a:r>
              <a:rPr sz="800" b="0"/>
              <a:t>end-to-end confirmation of the sorted-tile execution, once the runs free the decoder</a:t>
            </a:r>
          </a:p>
        </p:txBody>
      </p:sp>
      <p:pic>
        <p:nvPicPr>
          <p:cNvPr id="4" name="Picture 3" descr="nf_heterogeneity.png"/>
          <p:cNvPicPr>
            <a:picLocks noChangeAspect="1"/>
          </p:cNvPicPr>
          <p:nvPr/>
        </p:nvPicPr>
        <p:blipFill>
          <a:blip r:embed="rId2"/>
          <a:stretch>
            <a:fillRect/>
          </a:stretch>
        </p:blipFill>
        <p:spPr>
          <a:xfrm>
            <a:off x="411480" y="4015232"/>
            <a:ext cx="8321039" cy="2261733"/>
          </a:xfrm>
          <a:prstGeom prst="rect">
            <a:avLst/>
          </a:prstGeom>
        </p:spPr>
      </p:pic>
    </p:spTree>
  </p:cSld>
  <p:clrMapOvr>
    <a:masterClrMapping/>
  </p:clrMapOvr>
</p:sld>
</file>

<file path=ppt/theme/theme1.xml><?xml version="1.0" encoding="utf-8"?>
<a:theme xmlns:a="http://schemas.openxmlformats.org/drawingml/2006/main" name="TUM_Vorlage_hellblau">
  <a:themeElements>
    <a:clrScheme name="Leere Präsentation 1">
      <a:dk1>
        <a:srgbClr val="000000"/>
      </a:dk1>
      <a:lt1>
        <a:srgbClr val="FFFFFF"/>
      </a:lt1>
      <a:dk2>
        <a:srgbClr val="0065BD"/>
      </a:dk2>
      <a:lt2>
        <a:srgbClr val="005293"/>
      </a:lt2>
      <a:accent1>
        <a:srgbClr val="A2AD00"/>
      </a:accent1>
      <a:accent2>
        <a:srgbClr val="E37222"/>
      </a:accent2>
      <a:accent3>
        <a:srgbClr val="AAB8DB"/>
      </a:accent3>
      <a:accent4>
        <a:srgbClr val="DADADA"/>
      </a:accent4>
      <a:accent5>
        <a:srgbClr val="CED3AA"/>
      </a:accent5>
      <a:accent6>
        <a:srgbClr val="CE671E"/>
      </a:accent6>
      <a:hlink>
        <a:srgbClr val="DAD7CB"/>
      </a:hlink>
      <a:folHlink>
        <a:srgbClr val="9C9D9F"/>
      </a:folHlink>
    </a:clrScheme>
    <a:fontScheme name="Leere Präsentatio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r" defTabSz="914400" rtl="0" eaLnBrk="0" fontAlgn="base" latinLnBrk="0" hangingPunct="0">
          <a:lnSpc>
            <a:spcPct val="100000"/>
          </a:lnSpc>
          <a:spcBef>
            <a:spcPct val="0"/>
          </a:spcBef>
          <a:spcAft>
            <a:spcPct val="0"/>
          </a:spcAft>
          <a:buClrTx/>
          <a:buSzTx/>
          <a:buFontTx/>
          <a:buNone/>
          <a:tabLst/>
          <a:defRPr kumimoji="0" lang="de-DE" sz="2000" b="0" i="0" u="none" strike="noStrike" cap="none" normalizeH="0" baseline="0" smtClean="0">
            <a:ln>
              <a:noFill/>
            </a:ln>
            <a:solidFill>
              <a:schemeClr val="tx1"/>
            </a:solidFill>
            <a:effectLst/>
            <a:latin typeface="Arial"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r" defTabSz="914400" rtl="0" eaLnBrk="0" fontAlgn="base" latinLnBrk="0" hangingPunct="0">
          <a:lnSpc>
            <a:spcPct val="100000"/>
          </a:lnSpc>
          <a:spcBef>
            <a:spcPct val="0"/>
          </a:spcBef>
          <a:spcAft>
            <a:spcPct val="0"/>
          </a:spcAft>
          <a:buClrTx/>
          <a:buSzTx/>
          <a:buFontTx/>
          <a:buNone/>
          <a:tabLst/>
          <a:defRPr kumimoji="0" lang="de-DE" sz="2000" b="0" i="0" u="none" strike="noStrike" cap="none" normalizeH="0" baseline="0" smtClean="0">
            <a:ln>
              <a:noFill/>
            </a:ln>
            <a:solidFill>
              <a:schemeClr val="tx1"/>
            </a:solidFill>
            <a:effectLst/>
            <a:latin typeface="Arial" pitchFamily="34" charset="0"/>
          </a:defRPr>
        </a:defPPr>
      </a:lstStyle>
    </a:lnDef>
  </a:objectDefaults>
  <a:extraClrSchemeLst>
    <a:extraClrScheme>
      <a:clrScheme name="Leere Präsentation 1">
        <a:dk1>
          <a:srgbClr val="000000"/>
        </a:dk1>
        <a:lt1>
          <a:srgbClr val="FFFFFF"/>
        </a:lt1>
        <a:dk2>
          <a:srgbClr val="0065BD"/>
        </a:dk2>
        <a:lt2>
          <a:srgbClr val="005293"/>
        </a:lt2>
        <a:accent1>
          <a:srgbClr val="A2AD00"/>
        </a:accent1>
        <a:accent2>
          <a:srgbClr val="E37222"/>
        </a:accent2>
        <a:accent3>
          <a:srgbClr val="AAB8DB"/>
        </a:accent3>
        <a:accent4>
          <a:srgbClr val="DADADA"/>
        </a:accent4>
        <a:accent5>
          <a:srgbClr val="CED3AA"/>
        </a:accent5>
        <a:accent6>
          <a:srgbClr val="CE671E"/>
        </a:accent6>
        <a:hlink>
          <a:srgbClr val="DAD7CB"/>
        </a:hlink>
        <a:folHlink>
          <a:srgbClr val="9C9D9F"/>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Design">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Design">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0</Words>
  <Application>Microsoft Office PowerPoint</Application>
  <PresentationFormat>Bildschirmpräsentation (4:3)</PresentationFormat>
  <Paragraphs>0</Paragraphs>
  <Slides>2</Slides>
  <Notes>0</Notes>
  <HiddenSlides>0</HiddenSlides>
  <MMClips>0</MMClips>
  <ScaleCrop>false</ScaleCrop>
  <HeadingPairs>
    <vt:vector size="4" baseType="variant">
      <vt:variant>
        <vt:lpstr>Design</vt:lpstr>
      </vt:variant>
      <vt:variant>
        <vt:i4>1</vt:i4>
      </vt:variant>
      <vt:variant>
        <vt:lpstr>Folientitel</vt:lpstr>
      </vt:variant>
      <vt:variant>
        <vt:i4>2</vt:i4>
      </vt:variant>
    </vt:vector>
  </HeadingPairs>
  <TitlesOfParts>
    <vt:vector size="3" baseType="lpstr">
      <vt:lpstr>TUM_Vorlage_hellblau</vt:lpstr>
      <vt:lpstr>PowerPoint-Präsentation</vt:lpstr>
      <vt:lpstr>PowerPoint-Präsentation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support</dc:creator>
  <cp:lastModifiedBy>Schuwerk, Clemens</cp:lastModifiedBy>
  <cp:revision>12</cp:revision>
  <dcterms:created xsi:type="dcterms:W3CDTF">2009-06-05T15:14:26Z</dcterms:created>
  <dcterms:modified xsi:type="dcterms:W3CDTF">2014-10-01T15:01:51Z</dcterms:modified>
</cp:coreProperties>
</file>