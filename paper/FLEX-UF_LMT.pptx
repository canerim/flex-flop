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  <p:sldId id="257" r:id="rId2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6858000" type="screen4x3"/>
  <p:notesSz cx="6858000" cy="9144000"/>
  <p:defaultTextStyle>
    <a:defPPr>
      <a:defRPr lang="de-DE"/>
    </a:defPPr>
    <a:lvl1pPr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r" rtl="0" eaLnBrk="0" fontAlgn="base" hangingPunct="0">
      <a:spcBef>
        <a:spcPct val="0"/>
      </a:spcBef>
      <a:spcAft>
        <a:spcPct val="0"/>
      </a:spcAft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0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5CA82"/>
    <a:srgbClr val="91AC6B"/>
    <a:srgbClr val="41BEFF"/>
    <a:srgbClr val="0099FF"/>
    <a:srgbClr val="CA213F"/>
    <a:srgbClr val="E53418"/>
    <a:srgbClr val="FF8000"/>
    <a:srgbClr val="0065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34" d="100"/>
          <a:sy n="134" d="100"/>
        </p:scale>
        <p:origin x="-1002" y="-72"/>
      </p:cViewPr>
      <p:guideLst>
        <p:guide orient="horz" pos="1066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handoutMaster" Target="handoutMasters/handout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508000" y="169863"/>
            <a:ext cx="33782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91000" y="169863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1434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1434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B8682F5A-9025-5143-B95A-464527BD45C7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00069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fld id="{224B126A-EBFB-3945-B395-849A2AAB6EE9}" type="slidenum">
              <a:rPr lang="de-DE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072135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ＭＳ Ｐゴシック" pitchFamily="18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ＭＳ Ｐゴシック" pitchFamily="-65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wmf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7" name="Rectangle 3"/>
          <p:cNvSpPr>
            <a:spLocks noGrp="1" noChangeArrowheads="1"/>
          </p:cNvSpPr>
          <p:nvPr>
            <p:ph type="ctrTitle"/>
          </p:nvPr>
        </p:nvSpPr>
        <p:spPr>
          <a:xfrm>
            <a:off x="520700" y="2735860"/>
            <a:ext cx="8128000" cy="1295400"/>
          </a:xfrm>
        </p:spPr>
        <p:txBody>
          <a:bodyPr/>
          <a:lstStyle>
            <a:lvl1pPr algn="ctr">
              <a:defRPr sz="3200" b="0">
                <a:solidFill>
                  <a:schemeClr val="bg2"/>
                </a:solidFill>
              </a:defRPr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1268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520700" y="4336060"/>
            <a:ext cx="8128000" cy="1752600"/>
          </a:xfrm>
        </p:spPr>
        <p:txBody>
          <a:bodyPr/>
          <a:lstStyle>
            <a:lvl1pPr marL="0" indent="0" algn="ctr">
              <a:buFontTx/>
              <a:buNone/>
              <a:defRPr sz="2400"/>
            </a:lvl1pPr>
          </a:lstStyle>
          <a:p>
            <a:r>
              <a:rPr lang="en-US" noProof="0" dirty="0" err="1" smtClean="0"/>
              <a:t>Formatvorlage</a:t>
            </a:r>
            <a:r>
              <a:rPr lang="en-US" noProof="0" dirty="0" smtClean="0"/>
              <a:t> des </a:t>
            </a:r>
            <a:r>
              <a:rPr lang="en-US" noProof="0" dirty="0" err="1" smtClean="0"/>
              <a:t>Untertitelmasters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ftr" sz="quarter" idx="10"/>
          </p:nvPr>
        </p:nvSpPr>
        <p:spPr>
          <a:xfrm>
            <a:off x="508000" y="6400800"/>
            <a:ext cx="8153400" cy="304800"/>
          </a:xfrm>
        </p:spPr>
        <p:txBody>
          <a:bodyPr anchor="t"/>
          <a:lstStyle>
            <a:lvl1pPr>
              <a:defRPr/>
            </a:lvl1pPr>
          </a:lstStyle>
          <a:p>
            <a:endParaRPr lang="en-US" noProof="0" dirty="0"/>
          </a:p>
        </p:txBody>
      </p:sp>
      <p:pic>
        <p:nvPicPr>
          <p:cNvPr id="10" name="Bild 9" descr="LS_Medientechnik_OS_Blau_RGB.wmf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77" y="420121"/>
            <a:ext cx="546137" cy="546137"/>
          </a:xfrm>
          <a:prstGeom prst="rect">
            <a:avLst/>
          </a:prstGeom>
        </p:spPr>
      </p:pic>
      <p:pic>
        <p:nvPicPr>
          <p:cNvPr id="1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920" y="423276"/>
            <a:ext cx="1026072" cy="541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4531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F608F0F-3717-0942-9241-E6563A14553B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7CC94CD-1FE7-0C44-80F4-2964C2C99554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785259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 baseline="0"/>
            </a:lvl1pPr>
          </a:lstStyle>
          <a:p>
            <a:r>
              <a:rPr lang="en-US" noProof="0" dirty="0" err="1" smtClean="0"/>
              <a:t>Titelmasterformat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5080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92275"/>
            <a:ext cx="3987800" cy="44799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noProof="0" dirty="0" err="1" smtClean="0"/>
              <a:t>Textmasterformate</a:t>
            </a:r>
            <a:r>
              <a:rPr lang="en-US" noProof="0" dirty="0" smtClean="0"/>
              <a:t> </a:t>
            </a:r>
            <a:r>
              <a:rPr lang="en-US" noProof="0" dirty="0" err="1" smtClean="0"/>
              <a:t>durch</a:t>
            </a:r>
            <a:r>
              <a:rPr lang="en-US" noProof="0" dirty="0" smtClean="0"/>
              <a:t> </a:t>
            </a:r>
            <a:r>
              <a:rPr lang="en-US" noProof="0" dirty="0" err="1" smtClean="0"/>
              <a:t>Klicken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583E054-FA98-0D4D-A84E-988AA305B92A}" type="datetime1">
              <a:rPr lang="en-US" noProof="0" smtClean="0"/>
              <a:pPr/>
              <a:t>10/1/2014</a:t>
            </a:fld>
            <a:endParaRPr lang="en-US" noProof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EEA83A0-A104-9441-ACE9-BF30B05124E9}" type="slidenum">
              <a:rPr lang="en-US" noProof="0" smtClean="0"/>
              <a:pPr/>
              <a:t>‹Nr.›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11570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wmf"/><Relationship Id="rId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08000" y="849790"/>
            <a:ext cx="8128000" cy="601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Mastertitelformat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08000" y="1701800"/>
            <a:ext cx="8128000" cy="4470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 dirty="0" err="1" smtClean="0"/>
              <a:t>Mastertextformat</a:t>
            </a:r>
            <a:r>
              <a:rPr lang="en-US" noProof="0" dirty="0" smtClean="0"/>
              <a:t> </a:t>
            </a:r>
            <a:r>
              <a:rPr lang="en-US" noProof="0" dirty="0" err="1" smtClean="0"/>
              <a:t>bearbeiten</a:t>
            </a:r>
            <a:endParaRPr lang="en-US" noProof="0" dirty="0" smtClean="0"/>
          </a:p>
          <a:p>
            <a:pPr lvl="1"/>
            <a:r>
              <a:rPr lang="en-US" noProof="0" dirty="0" err="1" smtClean="0"/>
              <a:t>Zweite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2"/>
            <a:r>
              <a:rPr lang="en-US" noProof="0" dirty="0" err="1" smtClean="0"/>
              <a:t>Dritte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3"/>
            <a:r>
              <a:rPr lang="en-US" noProof="0" dirty="0" err="1" smtClean="0"/>
              <a:t>Vierte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 smtClean="0"/>
          </a:p>
          <a:p>
            <a:pPr lvl="4"/>
            <a:r>
              <a:rPr lang="en-US" noProof="0" dirty="0" err="1" smtClean="0"/>
              <a:t>Fünfte</a:t>
            </a:r>
            <a:r>
              <a:rPr lang="en-US" noProof="0" dirty="0" smtClean="0"/>
              <a:t> </a:t>
            </a:r>
            <a:r>
              <a:rPr lang="en-US" noProof="0" dirty="0" err="1" smtClean="0"/>
              <a:t>Ebene</a:t>
            </a:r>
            <a:endParaRPr lang="en-US" noProof="0" dirty="0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508001" y="6400800"/>
            <a:ext cx="121075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fld id="{35369418-08C0-BE43-AA9B-AD0B2EE4ADC5}" type="datetime1">
              <a:rPr lang="en-US" smtClean="0"/>
              <a:pPr/>
              <a:t>10/1/2014</a:t>
            </a:fld>
            <a:endParaRPr lang="en-US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986114" y="6400800"/>
            <a:ext cx="516580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>
              <a:defRPr sz="1200" b="0"/>
            </a:lvl1pPr>
          </a:lstStyle>
          <a:p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438376" y="6400800"/>
            <a:ext cx="1197623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 b="0"/>
            </a:lvl1pPr>
          </a:lstStyle>
          <a:p>
            <a:fld id="{4E0006A5-54B2-7248-935D-336FE5B38FBE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Text Box 18"/>
          <p:cNvSpPr txBox="1">
            <a:spLocks noChangeArrowheads="1"/>
          </p:cNvSpPr>
          <p:nvPr userDrawn="1"/>
        </p:nvSpPr>
        <p:spPr bwMode="auto">
          <a:xfrm>
            <a:off x="6224653" y="479425"/>
            <a:ext cx="1846197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sz="900" b="0" noProof="0" dirty="0" err="1" smtClean="0">
                <a:solidFill>
                  <a:schemeClr val="bg2"/>
                </a:solidFill>
              </a:rPr>
              <a:t>Technische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Universität</a:t>
            </a:r>
            <a:r>
              <a:rPr lang="en-US" sz="900" b="0" noProof="0" dirty="0" smtClean="0">
                <a:solidFill>
                  <a:schemeClr val="bg2"/>
                </a:solidFill>
              </a:rPr>
              <a:t>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München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sp>
        <p:nvSpPr>
          <p:cNvPr id="14" name="Line 23"/>
          <p:cNvSpPr>
            <a:spLocks noChangeShapeType="1"/>
          </p:cNvSpPr>
          <p:nvPr userDrawn="1"/>
        </p:nvSpPr>
        <p:spPr bwMode="auto">
          <a:xfrm>
            <a:off x="0" y="63246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sp>
        <p:nvSpPr>
          <p:cNvPr id="16" name="Line 22"/>
          <p:cNvSpPr>
            <a:spLocks noChangeShapeType="1"/>
          </p:cNvSpPr>
          <p:nvPr userDrawn="1"/>
        </p:nvSpPr>
        <p:spPr bwMode="auto">
          <a:xfrm>
            <a:off x="0" y="685800"/>
            <a:ext cx="9144000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 b="0" noProof="0">
              <a:latin typeface="Arial" pitchFamily="34" charset="0"/>
              <a:ea typeface="ＭＳ Ｐゴシック" pitchFamily="18" charset="-128"/>
              <a:cs typeface="ＭＳ Ｐゴシック" pitchFamily="18" charset="-128"/>
            </a:endParaRPr>
          </a:p>
        </p:txBody>
      </p:sp>
      <p:pic>
        <p:nvPicPr>
          <p:cNvPr id="2" name="Bild 1" descr="LS_Medientechnik_OS_Blau_RGB.wmf"/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511" y="286445"/>
            <a:ext cx="362833" cy="362833"/>
          </a:xfrm>
          <a:prstGeom prst="rect">
            <a:avLst/>
          </a:prstGeom>
        </p:spPr>
      </p:pic>
      <p:sp>
        <p:nvSpPr>
          <p:cNvPr id="13" name="Text Box 18"/>
          <p:cNvSpPr txBox="1">
            <a:spLocks noChangeArrowheads="1"/>
          </p:cNvSpPr>
          <p:nvPr userDrawn="1"/>
        </p:nvSpPr>
        <p:spPr bwMode="auto">
          <a:xfrm>
            <a:off x="866990" y="335830"/>
            <a:ext cx="190396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Chair of Media </a:t>
            </a:r>
            <a:r>
              <a:rPr lang="en-US" sz="900" b="0" noProof="0" dirty="0" smtClean="0">
                <a:solidFill>
                  <a:schemeClr val="bg2"/>
                </a:solidFill>
              </a:rPr>
              <a:t>Technology</a:t>
            </a:r>
          </a:p>
          <a:p>
            <a:pPr algn="l"/>
            <a:r>
              <a:rPr lang="en-US" sz="900" b="0" noProof="0" dirty="0" smtClean="0">
                <a:solidFill>
                  <a:schemeClr val="bg2"/>
                </a:solidFill>
              </a:rPr>
              <a:t>Prof. Dr.-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Ing</a:t>
            </a:r>
            <a:r>
              <a:rPr lang="en-US" sz="900" b="0" noProof="0" dirty="0" smtClean="0">
                <a:solidFill>
                  <a:schemeClr val="bg2"/>
                </a:solidFill>
              </a:rPr>
              <a:t>. </a:t>
            </a:r>
            <a:r>
              <a:rPr lang="en-US" sz="900" b="0" noProof="0" dirty="0" err="1" smtClean="0">
                <a:solidFill>
                  <a:schemeClr val="bg2"/>
                </a:solidFill>
              </a:rPr>
              <a:t>Eckehard</a:t>
            </a:r>
            <a:r>
              <a:rPr lang="en-US" sz="900" b="0" noProof="0" dirty="0" smtClean="0">
                <a:solidFill>
                  <a:schemeClr val="bg2"/>
                </a:solidFill>
              </a:rPr>
              <a:t> Steinbach</a:t>
            </a:r>
            <a:endParaRPr lang="en-US" sz="900" b="0" noProof="0" dirty="0">
              <a:solidFill>
                <a:schemeClr val="bg2"/>
              </a:solidFill>
            </a:endParaRPr>
          </a:p>
        </p:txBody>
      </p:sp>
      <p:pic>
        <p:nvPicPr>
          <p:cNvPr id="42" name="Picture 29" descr="U:\Logos und Grafiken\TUMLogo_oZ_Vollfl_blau_RGB.png"/>
          <p:cNvPicPr>
            <a:picLocks noChangeAspect="1" noChangeArrowheads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39778" y="325438"/>
            <a:ext cx="604440" cy="319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3" r:id="rId2"/>
    <p:sldLayoutId id="2147483694" r:id="rId3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0">
          <a:solidFill>
            <a:schemeClr val="tx1"/>
          </a:solidFill>
          <a:latin typeface="+mj-lt"/>
          <a:ea typeface="ＭＳ Ｐゴシック" pitchFamily="-65" charset="-128"/>
          <a:cs typeface="ＭＳ Ｐゴシック" pitchFamily="18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Arial" pitchFamily="34" charset="0"/>
          <a:ea typeface="ＭＳ Ｐゴシック" pitchFamily="-65" charset="-128"/>
          <a:cs typeface="ＭＳ Ｐゴシック" pitchFamily="18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9pPr>
    </p:titleStyle>
    <p:bodyStyle>
      <a:lvl1pPr marL="2667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charset="2"/>
        <a:buChar char="§"/>
        <a:defRPr sz="2000" b="0">
          <a:solidFill>
            <a:schemeClr val="tx1"/>
          </a:solidFill>
          <a:latin typeface="+mn-lt"/>
          <a:ea typeface="ＭＳ Ｐゴシック" pitchFamily="-65" charset="-128"/>
          <a:cs typeface="ＭＳ Ｐゴシック" pitchFamily="18" charset="-128"/>
        </a:defRPr>
      </a:lvl1pPr>
      <a:lvl2pPr marL="534988" indent="-268288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2pPr>
      <a:lvl3pPr marL="801688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3pPr>
      <a:lvl4pPr marL="1079500" indent="-2778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4pPr>
      <a:lvl5pPr marL="1346200" indent="-2667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Lucida Grande"/>
        <a:buChar char="□"/>
        <a:defRPr sz="2000" b="0">
          <a:solidFill>
            <a:schemeClr val="tx1"/>
          </a:solidFill>
          <a:latin typeface="+mn-lt"/>
          <a:ea typeface="ＭＳ Ｐゴシック" pitchFamily="-65" charset="-128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FLEX-UF: Content-Adaptive Early Exit for DCVC-UF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Decoder compute cut per tile, measured against the released model on the identical bitstream</a:t>
            </a:r>
          </a:p>
          <a:p>
            <a:r>
              <a:t>Chair of Media Technology · TUM</a:t>
            </a:r>
          </a:p>
        </p:txBody>
      </p:sp>
      <p:pic>
        <p:nvPicPr>
          <p:cNvPr id="4" name="Picture 3" descr="fig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206240"/>
            <a:ext cx="8229600" cy="2133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Problem and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46634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>
                <a:solidFill>
                  <a:srgbClr val="0B0B0B"/>
                </a:solidFill>
              </a:rPr>
              <a:t>• DCVC-UF decodes every pixel with the same 12 residual blocks, regardless of how hard that region is</a:t>
            </a:r>
          </a:p>
          <a:p>
            <a:pPr lvl="1">
              <a:spcAft>
                <a:spcPts val="500"/>
              </a:spcAft>
            </a:pPr>
            <a:r>
              <a:rPr sz="1050">
                <a:solidFill>
                  <a:srgbClr val="52514E"/>
                </a:solidFill>
              </a:rPr>
              <a:t>– MAC audit: upsample 8.2% · 12-block trunk 89.4% · head 2.4%; 99.7% of it is pointwise 1×1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0B0B0B"/>
                </a:solidFill>
              </a:rPr>
              <a:t>• Goal: spend less on easy regions, keep quality at the released model's level</a:t>
            </a:r>
          </a:p>
          <a:p>
            <a:pPr lvl="1">
              <a:spcAft>
                <a:spcPts val="500"/>
              </a:spcAft>
            </a:pPr>
            <a:r>
              <a:rPr sz="1050">
                <a:solidFill>
                  <a:srgbClr val="52514E"/>
                </a:solidFill>
              </a:rPr>
              <a:t>– Target set by the group: 30–40% decoder compute saved at ≤0.1 dB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0B0B0B"/>
                </a:solidFill>
              </a:rPr>
              <a:t>• Constraint that shapes everything: the bitstream must not change</a:t>
            </a:r>
          </a:p>
          <a:p>
            <a:pPr lvl="1">
              <a:spcAft>
                <a:spcPts val="500"/>
              </a:spcAft>
            </a:pPr>
            <a:r>
              <a:rPr sz="1050">
                <a:solidFill>
                  <a:srgbClr val="52514E"/>
                </a:solidFill>
              </a:rPr>
              <a:t>– Encoder, hyperprior and entropy model stay frozen — same latent, same bits, only synthesis differs</a:t>
            </a:r>
          </a:p>
          <a:p>
            <a:pPr lvl="1">
              <a:spcAft>
                <a:spcPts val="500"/>
              </a:spcAft>
            </a:pPr>
            <a:r>
              <a:rPr sz="1050">
                <a:solidFill>
                  <a:srgbClr val="52514E"/>
                </a:solidFill>
              </a:rPr>
              <a:t>– So every number here is decoder-only and directly attributable</a:t>
            </a:r>
          </a:p>
        </p:txBody>
      </p:sp>
      <p:pic>
        <p:nvPicPr>
          <p:cNvPr id="5" name="Picture 4" descr="s_m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194560"/>
            <a:ext cx="3703320" cy="251825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144768"/>
            <a:ext cx="8138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52514E"/>
                </a:solidFill>
              </a:rPr>
              <a:t>All measurements: CTC sequences (UVG + HEVC class E). Classes B/C/D are behind JVET credentials and are reported as NOT MEASURED.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Architecture: a ladder of exits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fig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34440"/>
            <a:ext cx="8503920" cy="220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160520"/>
            <a:ext cx="7863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0B0B0B"/>
                </a:solidFill>
              </a:rPr>
              <a:t>• Groups 0–1 run full-frame (no tile borders); groups 2–5 run per tile, each tile leaving at its own exit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0B0B0B"/>
                </a:solidFill>
              </a:rPr>
              <a:t>• Per-exit adapter is 1×1 and zero-initialised — pointwise, so it adds no receptive field and no seam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0B0B0B"/>
                </a:solidFill>
              </a:rPr>
              <a:t>• j = 2 gives a 43.4% ceiling: exiting at the earliest permitted group skips 6 of 12 blocks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We do not converge to DCVC-UF — we start at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46634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0B0B0B"/>
                </a:solidFill>
              </a:rPr>
              <a:t>• The released decoder's weights are re-indexed into the ladder: dec_1.0→upsample, dec_1.n→groups.g.i, dec_2→head</a:t>
            </a:r>
          </a:p>
          <a:p>
            <a:pPr lvl="1">
              <a:spcAft>
                <a:spcPts val="500"/>
              </a:spcAft>
            </a:pPr>
            <a:r>
              <a:rPr sz="1000">
                <a:solidFill>
                  <a:srgbClr val="52514E"/>
                </a:solidFill>
              </a:rPr>
              <a:t>– The key remap is asserted to be a bijection over all 143 tensors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0B0B0B"/>
                </a:solidFill>
              </a:rPr>
              <a:t>• Adapters and seam repair are zero-initialised, i.e. exactly the identity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0B0B0B"/>
                </a:solidFill>
              </a:rPr>
              <a:t>• Therefore at step 0, with no training at all:</a:t>
            </a:r>
          </a:p>
          <a:p>
            <a:pPr lvl="1">
              <a:spcAft>
                <a:spcPts val="500"/>
              </a:spcAft>
            </a:pPr>
            <a:r>
              <a:rPr sz="1000">
                <a:solidFill>
                  <a:srgbClr val="52514E"/>
                </a:solidFill>
              </a:rPr>
              <a:t>– released DCVC-UF vs our deepest exit  →  max|diff| = 0.0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0B0B0B"/>
                </a:solidFill>
              </a:rPr>
              <a:t>• Training's job is not to reach DCVC-UF. It is to (a) lift the shallow exits, (b) not damage the deepest one</a:t>
            </a:r>
          </a:p>
          <a:p>
            <a:pPr lvl="1">
              <a:spcAft>
                <a:spcPts val="500"/>
              </a:spcAft>
            </a:pPr>
            <a:r>
              <a:rPr sz="1000">
                <a:solidFill>
                  <a:srgbClr val="52514E"/>
                </a:solidFill>
              </a:rPr>
              <a:t>– From-scratch runs had to reach 105 epochs from nothing; after 6 they were 1.49 dB short and were shelved</a:t>
            </a:r>
          </a:p>
        </p:txBody>
      </p:sp>
      <p:pic>
        <p:nvPicPr>
          <p:cNvPr id="5" name="Picture 4" descr="s_ex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194560"/>
            <a:ext cx="3703320" cy="23701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144768"/>
            <a:ext cx="8138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52514E"/>
                </a:solidFill>
              </a:rPr>
              <a:t>Zero-tolerance controls run on every commit: 8 properties at max|diff| = 0.0, including j=K reproducing the full decode.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Training: Microsoft's recipe, verified item by item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46634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0B0B0B"/>
                </a:solidFill>
              </a:rPr>
              <a:t>• scripts/verify_recipe.py compares each item against ~/DCVC/train_image.py and exits non-zero on a mismatch</a:t>
            </a:r>
          </a:p>
          <a:p>
            <a:pPr lvl="1">
              <a:spcAft>
                <a:spcPts val="500"/>
              </a:spcAft>
            </a:pPr>
            <a:r>
              <a:rPr sz="950">
                <a:solidFill>
                  <a:srgbClr val="52514E"/>
                </a:solidFill>
              </a:rPr>
              <a:t>– schedule rows character-for-character · 106 entries · AdamW 1e-4 · clip 0.1 with non-finite skip</a:t>
            </a:r>
          </a:p>
          <a:p>
            <a:pPr lvl="1">
              <a:spcAft>
                <a:spcPts val="500"/>
              </a:spcAft>
            </a:pPr>
            <a:r>
              <a:rPr sz="950">
                <a:solidFill>
                  <a:srgbClr val="52514E"/>
                </a:solidFill>
              </a:rPr>
              <a:t>– ImageFolder + get_training_lambdas · 64 QP levels · encoder identical across 74 tensors · 255 shared tensors unchanged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0B0B0B"/>
                </a:solidFill>
              </a:rPr>
              <a:t>• Stated additions, not hidden: --epoch_offset, --anchor_weight, --new_lr_scale, --freeze_encoder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0B0B0B"/>
                </a:solidFill>
              </a:rPr>
              <a:t>• Live runs, one question each:</a:t>
            </a:r>
          </a:p>
          <a:p>
            <a:pPr lvl="1">
              <a:spcAft>
                <a:spcPts val="500"/>
              </a:spcAft>
            </a:pPr>
            <a:r>
              <a:rPr sz="950">
                <a:solidFill>
                  <a:srgbClr val="52514E"/>
                </a:solidFill>
              </a:rPr>
              <a:t>– VERBATIM — the recipe's final phase run in full (90→104), no additions at all</a:t>
            </a:r>
          </a:p>
          <a:p>
            <a:pPr lvl="1">
              <a:spcAft>
                <a:spcPts val="500"/>
              </a:spcAft>
            </a:pPr>
            <a:r>
              <a:rPr sz="950">
                <a:solidFill>
                  <a:srgbClr val="52514E"/>
                </a:solidFill>
              </a:rPr>
              <a:t>– RECIPE512 — offset 99: the recipe's own 512px regime, so --min_crop is not needed</a:t>
            </a:r>
          </a:p>
          <a:p>
            <a:pPr lvl="1">
              <a:spcAft>
                <a:spcPts val="500"/>
              </a:spcAft>
            </a:pPr>
            <a:r>
              <a:rPr sz="950">
                <a:solidFill>
                  <a:srgbClr val="52514E"/>
                </a:solidFill>
              </a:rPr>
              <a:t>– BEST / CONTROL — all measured winners vs none of them, single-variable</a:t>
            </a:r>
          </a:p>
        </p:txBody>
      </p:sp>
      <p:pic>
        <p:nvPicPr>
          <p:cNvPr id="5" name="Picture 4" descr="s_reci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920240"/>
            <a:ext cx="3703320" cy="251825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144768"/>
            <a:ext cx="8138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52514E"/>
                </a:solidFill>
              </a:rPr>
              <a:t>Effective batch is kept at the recipe's 16 by gradient accumulation, since 512×512 at batch 16 does not fit one card.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anchor: a bug that would have cost a factor of four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46634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0B0B0B"/>
                </a:solidFill>
              </a:rPr>
              <a:t>• The schedule was copied verbatim but read from epoch 0 — its from-scratch 2e-4 applied to a converged model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0B0B0B"/>
                </a:solidFill>
              </a:rPr>
              <a:t>• Measured drift of the deepest exit from released DCVC-UF, after ONE epoch:</a:t>
            </a:r>
          </a:p>
          <a:p>
            <a:pPr lvl="1">
              <a:spcAft>
                <a:spcPts val="500"/>
              </a:spcAft>
            </a:pPr>
            <a:r>
              <a:rPr sz="950">
                <a:solidFill>
                  <a:srgbClr val="52514E"/>
                </a:solidFill>
              </a:rPr>
              <a:t>– qp0 −0.153 · qp32 −0.201 · qp63 −0.263 dB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0B0B0B"/>
                </a:solidFill>
              </a:rPr>
              <a:t>• Every saving figure is quoted as 'x% at y dB'. With that drift, y was understated by exactly that much</a:t>
            </a:r>
          </a:p>
          <a:p>
            <a:pPr lvl="1">
              <a:spcAft>
                <a:spcPts val="500"/>
              </a:spcAft>
            </a:pPr>
            <a:r>
              <a:rPr sz="950">
                <a:solidFill>
                  <a:srgbClr val="52514E"/>
                </a:solidFill>
              </a:rPr>
              <a:t>– '37% at 0.1 dB' was really 37% at 0.29 dB against the published model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0B0B0B"/>
                </a:solidFill>
              </a:rPr>
              <a:t>• Fix: read the schedule at the right place (offset 75/99/90) + pin the deepest exit by MSE to the release</a:t>
            </a:r>
          </a:p>
          <a:p>
            <a:pPr lvl="1">
              <a:spcAft>
                <a:spcPts val="500"/>
              </a:spcAft>
            </a:pPr>
            <a:r>
              <a:rPr sz="950">
                <a:solidFill>
                  <a:srgbClr val="52514E"/>
                </a:solidFill>
              </a:rPr>
              <a:t>– drift now −0.025 / −0.051 / −0.074 dB, and 0.000 exactly when the backbone is frozen</a:t>
            </a:r>
          </a:p>
        </p:txBody>
      </p:sp>
      <p:pic>
        <p:nvPicPr>
          <p:cNvPr id="5" name="Picture 4" descr="s_anch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011680"/>
            <a:ext cx="3703320" cy="24441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144768"/>
            <a:ext cx="8138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52514E"/>
                </a:solidFill>
              </a:rPr>
              <a:t>Freezing the backbone removes drift entirely but collapses the ceiling from 27.3% to 11.5% at qp0 — training the trunk is mandatory.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What an early exit actually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fig_ex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8595360" cy="36673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144768"/>
            <a:ext cx="8138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52514E"/>
                </a:solidFill>
              </a:rPr>
              <a:t>Bosphorus 1080p, qp32, identical bitstream. Error maps are against the released decoder, amplified ×25. The residual is concentrated on edges and on the tile grid — the two things the ladder has to pay for.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seam: the binding constraint, and its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46634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0B0B0B"/>
                </a:solidFill>
              </a:rPr>
              <a:t>• A tile decoded alone meets its border with invented values; every 3×3 pushes that inward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0B0B0B"/>
                </a:solidFill>
              </a:rPr>
              <a:t>• Pure seam penalty at qp63 (all tiles deepest exit, CTC native resolution):</a:t>
            </a:r>
          </a:p>
          <a:p>
            <a:pPr lvl="1">
              <a:spcAft>
                <a:spcPts val="500"/>
              </a:spcAft>
            </a:pPr>
            <a:r>
              <a:rPr sz="950">
                <a:solidFill>
                  <a:srgbClr val="52514E"/>
                </a:solidFill>
              </a:rPr>
              <a:t>– zeros 1.167 · replicate 0.213 · arls 0.179 · 256px tile halves each of these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0B0B0B"/>
                </a:solidFill>
              </a:rPr>
              <a:t>• arls (arXiv:2502.12300) wins on dB and was still rejected: +10.7% of decode wall-clock for +0.034 dB</a:t>
            </a:r>
          </a:p>
          <a:p>
            <a:pPr lvl="1">
              <a:spcAft>
                <a:spcPts val="500"/>
              </a:spcAft>
            </a:pPr>
            <a:r>
              <a:rPr sz="950">
                <a:solidFill>
                  <a:srgbClr val="52514E"/>
                </a:solidFill>
              </a:rPr>
              <a:t>– measured, not assumed — the wrapper itself is free, the bill is genuinely the least-squares fit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0B0B0B"/>
                </a:solidFill>
              </a:rPr>
              <a:t>• Canvas coupling: only the 3×3 depthwise has spatial extent — 0.334% of a block</a:t>
            </a:r>
          </a:p>
          <a:p>
            <a:pPr lvl="1">
              <a:spcAft>
                <a:spcPts val="500"/>
              </a:spcAft>
            </a:pPr>
            <a:r>
              <a:rPr sz="950">
                <a:solidFill>
                  <a:srgbClr val="52514E"/>
                </a:solidFill>
              </a:rPr>
              <a:t>– giving just that one operator its real neighbours costs +0.03% of MACs</a:t>
            </a:r>
          </a:p>
          <a:p>
            <a:pPr lvl="1">
              <a:spcAft>
                <a:spcPts val="500"/>
              </a:spcAft>
            </a:pPr>
            <a:r>
              <a:rPr sz="950">
                <a:solidFill>
                  <a:srgbClr val="52514E"/>
                </a:solidFill>
              </a:rPr>
              <a:t>– for tiles at the same depth the result is bit-exact the full-frame decode: max|diff| = 0.0</a:t>
            </a:r>
          </a:p>
        </p:txBody>
      </p:sp>
      <p:pic>
        <p:nvPicPr>
          <p:cNvPr id="5" name="Picture 4" descr="s_s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011680"/>
            <a:ext cx="3703320" cy="24441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144768"/>
            <a:ext cx="8138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52514E"/>
                </a:solidFill>
              </a:rPr>
              <a:t>This overturned an earlier decision of ours: the trunk halo had been rejected at 1.745× because the halo was applied to the whole block, not to the 0.334% that needs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Does the headline percentage survive a clock?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report_b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8229600" cy="51871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39496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0B0B0B"/>
                </a:solidFill>
              </a:rPr>
              <a:t>• MAC-model saving vs measured wall-clock, 1080p: 43.4/43.6 · 28.6/28.8 · 13.8/14.9 · 0.0/0.5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0B0B0B"/>
                </a:solidFill>
              </a:rPr>
              <a:t>• Within ±1 point at every exit — the reported number is one a user would feel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Result: saving against the released decoder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two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8595360" cy="3496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74920"/>
            <a:ext cx="7863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0B0B0B"/>
                </a:solidFill>
              </a:rPr>
              <a:t>• 0.1 dB budget: 26.0% (qp0) → 9.6% (qp63).  0.3 dB budget: 41.5% → 26.3%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0B0B0B"/>
                </a:solidFill>
              </a:rPr>
              <a:t>• The target band is met comfortably at 0.3 dB; at 0.1 dB only at low 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44768"/>
            <a:ext cx="8138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52514E"/>
                </a:solidFill>
              </a:rPr>
              <a:t>ORACLE — a perfect choice of exit. The next slide is how that choice is actually made.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router: predicting it failed, transmitting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46634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0B0B0B"/>
                </a:solidFill>
              </a:rPr>
              <a:t>• A decoder-side router must infer each tile's error without ever seeing the source</a:t>
            </a:r>
          </a:p>
          <a:p>
            <a:pPr lvl="1">
              <a:spcAft>
                <a:spcPts val="500"/>
              </a:spcAft>
            </a:pPr>
            <a:r>
              <a:rPr sz="950">
                <a:solidFill>
                  <a:srgbClr val="52514E"/>
                </a:solidFill>
              </a:rPr>
              <a:t>– hand-made signals: |r| ≤ 0.12 against the oracle's choice · a 768-dim pooled stem measured WORSE</a:t>
            </a:r>
          </a:p>
          <a:p>
            <a:pPr lvl="1">
              <a:spcAft>
                <a:spcPts val="500"/>
              </a:spcAft>
            </a:pPr>
            <a:r>
              <a:rPr sz="950">
                <a:solidFill>
                  <a:srgbClr val="52514E"/>
                </a:solidFill>
              </a:rPr>
              <a:t>– 4× the training moved qp0 agreement 0.743 → 0.741 with identical regret — missing information, not capacity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0B0B0B"/>
                </a:solidFill>
              </a:rPr>
              <a:t>• In video coding, mode decisions are signalled, not inferred (HEVC/VVC transmit partitioning and modes)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0B0B0B"/>
                </a:solidFill>
              </a:rPr>
              <a:t>• The encoder sees the source, computes the exit map exactly, and transmits it:</a:t>
            </a:r>
          </a:p>
          <a:p>
            <a:pPr lvl="1">
              <a:spcAft>
                <a:spcPts val="500"/>
              </a:spcAft>
            </a:pPr>
            <a:r>
              <a:rPr sz="950">
                <a:solidFill>
                  <a:srgbClr val="52514E"/>
                </a:solidFill>
              </a:rPr>
              <a:t>– 24.2 / 21.2 / 15.7 / 11.0 / 8.6 % at qp0/16/32/48/63, all under 0.1 dB of the release</a:t>
            </a:r>
          </a:p>
          <a:p>
            <a:pPr lvl="1">
              <a:spcAft>
                <a:spcPts val="500"/>
              </a:spcAft>
            </a:pPr>
            <a:r>
              <a:rPr sz="950">
                <a:solidFill>
                  <a:srgbClr val="52514E"/>
                </a:solidFill>
              </a:rPr>
              <a:t>– cost of the map, included in the bpp: 1.3×10⁻⁴ bpp — ~200 bits per frame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0B0B0B"/>
                </a:solidFill>
              </a:rPr>
              <a:t>• Within 1–2 points of the oracle bound; the predicting router paid 4× the dB for the same saving</a:t>
            </a:r>
          </a:p>
        </p:txBody>
      </p:sp>
      <p:pic>
        <p:nvPicPr>
          <p:cNvPr id="5" name="Picture 4" descr="s_rou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011680"/>
            <a:ext cx="3703320" cy="244419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Theory, status, and what is not yet done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46634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0B0B0B"/>
                </a:solidFill>
              </a:rPr>
              <a:t>• Cost is additive over tiles and MSE is a mean over them, so both are affine in the assignment. Hence:</a:t>
            </a:r>
          </a:p>
          <a:p>
            <a:pPr lvl="1">
              <a:spcAft>
                <a:spcPts val="500"/>
              </a:spcAft>
            </a:pPr>
            <a:r>
              <a:rPr sz="950">
                <a:solidFill>
                  <a:srgbClr val="52514E"/>
                </a:solidFill>
              </a:rPr>
              <a:t>– fixed proportions achieve exactly the convex hull of the K per-exit points</a:t>
            </a:r>
          </a:p>
          <a:p>
            <a:pPr lvl="1">
              <a:spcAft>
                <a:spcPts val="500"/>
              </a:spcAft>
            </a:pPr>
            <a:r>
              <a:rPr sz="950">
                <a:solidFill>
                  <a:srgbClr val="52514E"/>
                </a:solidFill>
              </a:rPr>
              <a:t>– per-tile assignment achieves the Minkowski average of the N per-tile hulls</a:t>
            </a:r>
          </a:p>
          <a:p>
            <a:pPr lvl="1">
              <a:spcAft>
                <a:spcPts val="500"/>
              </a:spcAft>
            </a:pPr>
            <a:r>
              <a:rPr sz="950">
                <a:solidFill>
                  <a:srgbClr val="52514E"/>
                </a:solidFill>
              </a:rPr>
              <a:t>– their gap is min-of-average − average-of-min ≥ 0, zero iff every tile prefers the same exit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0B0B0B"/>
                </a:solidFill>
              </a:rPr>
              <a:t>• That gap IS the value of adaptivity, computable before any router exists: 0.68% → 4.52% as rate rises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0B0B0B"/>
                </a:solidFill>
              </a:rPr>
              <a:t>• Open / not done:</a:t>
            </a:r>
          </a:p>
          <a:p>
            <a:pPr lvl="1">
              <a:spcAft>
                <a:spcPts val="500"/>
              </a:spcAft>
            </a:pPr>
            <a:r>
              <a:rPr sz="950">
                <a:solidFill>
                  <a:srgbClr val="52514E"/>
                </a:solidFill>
              </a:rPr>
              <a:t>– the 30–40% target is NOT met at 0.1 dB above qp16 — it is met at 0.3 dB</a:t>
            </a:r>
          </a:p>
          <a:p>
            <a:pPr lvl="1">
              <a:spcAft>
                <a:spcPts val="500"/>
              </a:spcAft>
            </a:pPr>
            <a:r>
              <a:rPr sz="950">
                <a:solidFill>
                  <a:srgbClr val="52514E"/>
                </a:solidFill>
              </a:rPr>
              <a:t>– anchor_weight = 10's effect on the ceiling is still unmeasured</a:t>
            </a:r>
          </a:p>
          <a:p>
            <a:pPr lvl="1">
              <a:spcAft>
                <a:spcPts val="500"/>
              </a:spcAft>
            </a:pPr>
            <a:r>
              <a:rPr sz="950">
                <a:solidFill>
                  <a:srgbClr val="52514E"/>
                </a:solidFill>
              </a:rPr>
              <a:t>– HEVC classes B/C/D not evaluated (JVET credentials); 256px runs still training</a:t>
            </a:r>
          </a:p>
        </p:txBody>
      </p:sp>
      <p:pic>
        <p:nvPicPr>
          <p:cNvPr id="5" name="Picture 4" descr="s_g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011680"/>
            <a:ext cx="3703320" cy="24441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144768"/>
            <a:ext cx="8138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i="1">
                <a:solidFill>
                  <a:srgbClr val="52514E"/>
                </a:solidFill>
              </a:rPr>
              <a:t>paper/theory.tex — two pages, NeurIPS form, every proof given. Repo: github.com/canerim/FLEX-FLOP, branch flexuf-multiexit.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UM_Vorlage_hellblau">
  <a:themeElements>
    <a:clrScheme name="Leere Präsentation 1">
      <a:dk1>
        <a:srgbClr val="000000"/>
      </a:dk1>
      <a:lt1>
        <a:srgbClr val="FFFFFF"/>
      </a:lt1>
      <a:dk2>
        <a:srgbClr val="0065BD"/>
      </a:dk2>
      <a:lt2>
        <a:srgbClr val="005293"/>
      </a:lt2>
      <a:accent1>
        <a:srgbClr val="A2AD00"/>
      </a:accent1>
      <a:accent2>
        <a:srgbClr val="E37222"/>
      </a:accent2>
      <a:accent3>
        <a:srgbClr val="AAB8DB"/>
      </a:accent3>
      <a:accent4>
        <a:srgbClr val="DADADA"/>
      </a:accent4>
      <a:accent5>
        <a:srgbClr val="CED3AA"/>
      </a:accent5>
      <a:accent6>
        <a:srgbClr val="CE671E"/>
      </a:accent6>
      <a:hlink>
        <a:srgbClr val="DAD7CB"/>
      </a:hlink>
      <a:folHlink>
        <a:srgbClr val="9C9D9F"/>
      </a:folHlink>
    </a:clrScheme>
    <a:fontScheme name="Leere Präsentatio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65BD"/>
        </a:dk2>
        <a:lt2>
          <a:srgbClr val="005293"/>
        </a:lt2>
        <a:accent1>
          <a:srgbClr val="A2AD00"/>
        </a:accent1>
        <a:accent2>
          <a:srgbClr val="E37222"/>
        </a:accent2>
        <a:accent3>
          <a:srgbClr val="AAB8DB"/>
        </a:accent3>
        <a:accent4>
          <a:srgbClr val="DADADA"/>
        </a:accent4>
        <a:accent5>
          <a:srgbClr val="CED3AA"/>
        </a:accent5>
        <a:accent6>
          <a:srgbClr val="CE671E"/>
        </a:accent6>
        <a:hlink>
          <a:srgbClr val="DAD7CB"/>
        </a:hlink>
        <a:folHlink>
          <a:srgbClr val="9C9D9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Bildschirmpräsentation (4:3)</PresentationFormat>
  <Paragraphs>0</Paragraphs>
  <Slides>2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3" baseType="lpstr">
      <vt:lpstr>TUM_Vorlage_hellblau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support</dc:creator>
  <cp:lastModifiedBy>Schuwerk, Clemens</cp:lastModifiedBy>
  <cp:revision>12</cp:revision>
  <dcterms:created xsi:type="dcterms:W3CDTF">2009-06-05T15:14:26Z</dcterms:created>
  <dcterms:modified xsi:type="dcterms:W3CDTF">2014-10-01T15:01:51Z</dcterms:modified>
</cp:coreProperties>
</file>